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1"/>
  </p:sldMasterIdLst>
  <p:notesMasterIdLst>
    <p:notesMasterId r:id="rId28"/>
  </p:notesMasterIdLst>
  <p:sldIdLst>
    <p:sldId id="256" r:id="rId2"/>
    <p:sldId id="257" r:id="rId3"/>
    <p:sldId id="258" r:id="rId4"/>
    <p:sldId id="329" r:id="rId5"/>
    <p:sldId id="271" r:id="rId6"/>
    <p:sldId id="317" r:id="rId7"/>
    <p:sldId id="312" r:id="rId8"/>
    <p:sldId id="330" r:id="rId9"/>
    <p:sldId id="316" r:id="rId10"/>
    <p:sldId id="269" r:id="rId11"/>
    <p:sldId id="318" r:id="rId12"/>
    <p:sldId id="285" r:id="rId13"/>
    <p:sldId id="286" r:id="rId14"/>
    <p:sldId id="313" r:id="rId15"/>
    <p:sldId id="331" r:id="rId16"/>
    <p:sldId id="332" r:id="rId17"/>
    <p:sldId id="335" r:id="rId18"/>
    <p:sldId id="336" r:id="rId19"/>
    <p:sldId id="333" r:id="rId20"/>
    <p:sldId id="334" r:id="rId21"/>
    <p:sldId id="324" r:id="rId22"/>
    <p:sldId id="327" r:id="rId23"/>
    <p:sldId id="337" r:id="rId24"/>
    <p:sldId id="338" r:id="rId25"/>
    <p:sldId id="323" r:id="rId26"/>
    <p:sldId id="284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DB9E13-DF97-4D5F-9BFF-C48DC9855BDC}" v="82" dt="2026-02-21T07:39:09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7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4A5E11-F973-4E2B-88D9-C02DD79591E6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D424673-D077-47F8-9D9A-7F128F155237}">
      <dgm:prSet/>
      <dgm:spPr/>
      <dgm:t>
        <a:bodyPr/>
        <a:lstStyle/>
        <a:p>
          <a:r>
            <a:rPr lang="en-IN" b="1"/>
            <a:t>MOTIVATION</a:t>
          </a:r>
          <a:endParaRPr lang="en-IN"/>
        </a:p>
      </dgm:t>
    </dgm:pt>
    <dgm:pt modelId="{7CC03464-0BE7-486D-AEA0-81AD14564AFE}" type="parTrans" cxnId="{C1FF5D0B-4B80-4523-AD75-94DEA674E3A9}">
      <dgm:prSet/>
      <dgm:spPr/>
      <dgm:t>
        <a:bodyPr/>
        <a:lstStyle/>
        <a:p>
          <a:endParaRPr lang="en-IN"/>
        </a:p>
      </dgm:t>
    </dgm:pt>
    <dgm:pt modelId="{EF832A82-49DA-49FE-9EB1-35C3287E2E66}" type="sibTrans" cxnId="{C1FF5D0B-4B80-4523-AD75-94DEA674E3A9}">
      <dgm:prSet/>
      <dgm:spPr/>
      <dgm:t>
        <a:bodyPr/>
        <a:lstStyle/>
        <a:p>
          <a:endParaRPr lang="en-IN"/>
        </a:p>
      </dgm:t>
    </dgm:pt>
    <dgm:pt modelId="{CD08C2F5-369B-429D-AA72-A8395CFA6CC9}">
      <dgm:prSet/>
      <dgm:spPr/>
      <dgm:t>
        <a:bodyPr/>
        <a:lstStyle/>
        <a:p>
          <a:r>
            <a:rPr lang="en-IN" dirty="0"/>
            <a:t>Furfural is a key biomass-derived platform molecule obtained from lignocellulosic feedstocks.</a:t>
          </a:r>
        </a:p>
      </dgm:t>
    </dgm:pt>
    <dgm:pt modelId="{2B69313B-2DCE-4C70-BAE7-C2F9986F9949}" type="parTrans" cxnId="{765F6980-7B8D-45D1-B3DE-55E7F6977422}">
      <dgm:prSet/>
      <dgm:spPr/>
      <dgm:t>
        <a:bodyPr/>
        <a:lstStyle/>
        <a:p>
          <a:endParaRPr lang="en-IN"/>
        </a:p>
      </dgm:t>
    </dgm:pt>
    <dgm:pt modelId="{FD77F848-852D-4D89-B99B-02DBE3923E95}" type="sibTrans" cxnId="{765F6980-7B8D-45D1-B3DE-55E7F6977422}">
      <dgm:prSet/>
      <dgm:spPr/>
      <dgm:t>
        <a:bodyPr/>
        <a:lstStyle/>
        <a:p>
          <a:endParaRPr lang="en-IN"/>
        </a:p>
      </dgm:t>
    </dgm:pt>
    <dgm:pt modelId="{65807D03-6146-4041-B61F-7F66CADFDB2E}">
      <dgm:prSet/>
      <dgm:spPr/>
      <dgm:t>
        <a:bodyPr/>
        <a:lstStyle/>
        <a:p>
          <a:r>
            <a:rPr lang="en-IN"/>
            <a:t>Upgrading furfural to fuels enhances the value of renewable biomass resources.</a:t>
          </a:r>
        </a:p>
      </dgm:t>
    </dgm:pt>
    <dgm:pt modelId="{026743DA-49A8-47C3-89D8-7971E64BE3D2}" type="parTrans" cxnId="{5952B63E-67D9-42A2-8104-D9354F4C50FE}">
      <dgm:prSet/>
      <dgm:spPr/>
      <dgm:t>
        <a:bodyPr/>
        <a:lstStyle/>
        <a:p>
          <a:endParaRPr lang="en-IN"/>
        </a:p>
      </dgm:t>
    </dgm:pt>
    <dgm:pt modelId="{556E3B16-F88A-401A-BDCC-EA110898B15C}" type="sibTrans" cxnId="{5952B63E-67D9-42A2-8104-D9354F4C50FE}">
      <dgm:prSet/>
      <dgm:spPr/>
      <dgm:t>
        <a:bodyPr/>
        <a:lstStyle/>
        <a:p>
          <a:endParaRPr lang="en-IN"/>
        </a:p>
      </dgm:t>
    </dgm:pt>
    <dgm:pt modelId="{C1D16DD2-541A-4FD5-8125-BC3BDA3D5956}">
      <dgm:prSet/>
      <dgm:spPr/>
      <dgm:t>
        <a:bodyPr/>
        <a:lstStyle/>
        <a:p>
          <a:r>
            <a:rPr lang="en-IN" dirty="0"/>
            <a:t>Target product: 2-Methylfuran (2-MF)</a:t>
          </a:r>
        </a:p>
      </dgm:t>
    </dgm:pt>
    <dgm:pt modelId="{DE0B12CB-FCB6-4A37-8635-1EB9BD3FDBB8}" type="parTrans" cxnId="{000134B2-C90A-404E-AC99-29055E677789}">
      <dgm:prSet/>
      <dgm:spPr/>
      <dgm:t>
        <a:bodyPr/>
        <a:lstStyle/>
        <a:p>
          <a:endParaRPr lang="en-IN"/>
        </a:p>
      </dgm:t>
    </dgm:pt>
    <dgm:pt modelId="{9FAF46DE-6EF9-4FDE-9C50-AF8BD41F0E7B}" type="sibTrans" cxnId="{000134B2-C90A-404E-AC99-29055E677789}">
      <dgm:prSet/>
      <dgm:spPr/>
      <dgm:t>
        <a:bodyPr/>
        <a:lstStyle/>
        <a:p>
          <a:endParaRPr lang="en-IN"/>
        </a:p>
      </dgm:t>
    </dgm:pt>
    <dgm:pt modelId="{04EA996A-8C00-48E8-AC06-73E82708DA5D}">
      <dgm:prSet/>
      <dgm:spPr/>
      <dgm:t>
        <a:bodyPr/>
        <a:lstStyle/>
        <a:p>
          <a:r>
            <a:rPr lang="en-IN" dirty="0"/>
            <a:t>High energy density biofuel</a:t>
          </a:r>
        </a:p>
      </dgm:t>
    </dgm:pt>
    <dgm:pt modelId="{F26958D6-4C84-4828-B55A-EA70C81B02CD}" type="parTrans" cxnId="{E7BF796C-989E-4379-A94E-93E25F75FD04}">
      <dgm:prSet/>
      <dgm:spPr/>
      <dgm:t>
        <a:bodyPr/>
        <a:lstStyle/>
        <a:p>
          <a:endParaRPr lang="en-IN"/>
        </a:p>
      </dgm:t>
    </dgm:pt>
    <dgm:pt modelId="{2D6699ED-2C8B-4C5D-B58A-6BF89C567756}" type="sibTrans" cxnId="{E7BF796C-989E-4379-A94E-93E25F75FD04}">
      <dgm:prSet/>
      <dgm:spPr/>
      <dgm:t>
        <a:bodyPr/>
        <a:lstStyle/>
        <a:p>
          <a:endParaRPr lang="en-IN"/>
        </a:p>
      </dgm:t>
    </dgm:pt>
    <dgm:pt modelId="{7EB35A90-4CBD-40A0-9514-730317B02B3F}">
      <dgm:prSet/>
      <dgm:spPr/>
      <dgm:t>
        <a:bodyPr/>
        <a:lstStyle/>
        <a:p>
          <a:r>
            <a:rPr lang="en-IN" b="1" dirty="0"/>
            <a:t>SIGNIFICANCE OF KINETIC STUDY</a:t>
          </a:r>
          <a:endParaRPr lang="en-IN" dirty="0"/>
        </a:p>
      </dgm:t>
    </dgm:pt>
    <dgm:pt modelId="{4862823F-FFDB-4DED-9609-45122E5BF0B8}" type="parTrans" cxnId="{E8B644BD-F50D-481B-8758-352E79E28EF7}">
      <dgm:prSet/>
      <dgm:spPr/>
      <dgm:t>
        <a:bodyPr/>
        <a:lstStyle/>
        <a:p>
          <a:endParaRPr lang="en-IN"/>
        </a:p>
      </dgm:t>
    </dgm:pt>
    <dgm:pt modelId="{C32BEB12-9891-47E2-9BE9-94D39D5C4083}" type="sibTrans" cxnId="{E8B644BD-F50D-481B-8758-352E79E28EF7}">
      <dgm:prSet/>
      <dgm:spPr/>
      <dgm:t>
        <a:bodyPr/>
        <a:lstStyle/>
        <a:p>
          <a:endParaRPr lang="en-IN"/>
        </a:p>
      </dgm:t>
    </dgm:pt>
    <dgm:pt modelId="{39745DBA-01F0-4AAB-A56F-247464B5106E}">
      <dgm:prSet/>
      <dgm:spPr/>
      <dgm:t>
        <a:bodyPr/>
        <a:lstStyle/>
        <a:p>
          <a:r>
            <a:rPr lang="en-IN" dirty="0"/>
            <a:t>Helps identify rate controlling steps and adsorption effects</a:t>
          </a:r>
        </a:p>
      </dgm:t>
    </dgm:pt>
    <dgm:pt modelId="{50CA1358-3F71-4E54-A00D-1C6293D26F37}" type="parTrans" cxnId="{846EF11E-C093-4FA3-B6DD-B4BAF8789795}">
      <dgm:prSet/>
      <dgm:spPr/>
      <dgm:t>
        <a:bodyPr/>
        <a:lstStyle/>
        <a:p>
          <a:endParaRPr lang="en-IN"/>
        </a:p>
      </dgm:t>
    </dgm:pt>
    <dgm:pt modelId="{632F8FE9-0E76-44C3-864D-9AEE7B7FB344}" type="sibTrans" cxnId="{846EF11E-C093-4FA3-B6DD-B4BAF8789795}">
      <dgm:prSet/>
      <dgm:spPr/>
      <dgm:t>
        <a:bodyPr/>
        <a:lstStyle/>
        <a:p>
          <a:endParaRPr lang="en-IN"/>
        </a:p>
      </dgm:t>
    </dgm:pt>
    <dgm:pt modelId="{493E6906-1A7F-4BFE-A001-B56EE06A26FF}">
      <dgm:prSet/>
      <dgm:spPr/>
      <dgm:t>
        <a:bodyPr/>
        <a:lstStyle/>
        <a:p>
          <a:r>
            <a:rPr lang="en-IN" dirty="0"/>
            <a:t>Provides mechanistic understanding beyond empirical correlations</a:t>
          </a:r>
        </a:p>
      </dgm:t>
    </dgm:pt>
    <dgm:pt modelId="{8C57D5AD-58B3-41B1-BD36-C1AD4D86FE7F}" type="parTrans" cxnId="{1532B7A4-0FAF-450E-BF4C-AEF0486A39E7}">
      <dgm:prSet/>
      <dgm:spPr/>
      <dgm:t>
        <a:bodyPr/>
        <a:lstStyle/>
        <a:p>
          <a:endParaRPr lang="en-IN"/>
        </a:p>
      </dgm:t>
    </dgm:pt>
    <dgm:pt modelId="{DC290D6A-BAC6-4DDD-B4B0-FD9EAFDFC7B5}" type="sibTrans" cxnId="{1532B7A4-0FAF-450E-BF4C-AEF0486A39E7}">
      <dgm:prSet/>
      <dgm:spPr/>
      <dgm:t>
        <a:bodyPr/>
        <a:lstStyle/>
        <a:p>
          <a:endParaRPr lang="en-IN"/>
        </a:p>
      </dgm:t>
    </dgm:pt>
    <dgm:pt modelId="{DDAF558D-7B09-4681-BD05-9866C1939DD5}">
      <dgm:prSet/>
      <dgm:spPr/>
      <dgm:t>
        <a:bodyPr/>
        <a:lstStyle/>
        <a:p>
          <a:pPr>
            <a:buNone/>
          </a:pPr>
          <a:r>
            <a:rPr lang="en-IN" b="0" dirty="0"/>
            <a:t>Catalyst:</a:t>
          </a:r>
          <a:r>
            <a:rPr lang="en-IN" dirty="0"/>
            <a:t> </a:t>
          </a:r>
          <a:r>
            <a:rPr lang="en-IN" dirty="0" err="1"/>
            <a:t>CuFe₂O</a:t>
          </a:r>
          <a:r>
            <a:rPr lang="en-IN" dirty="0"/>
            <a:t>₄ (Copper Ferrite) + Cu/Fe2O3</a:t>
          </a:r>
        </a:p>
      </dgm:t>
    </dgm:pt>
    <dgm:pt modelId="{613A258E-0C03-4CC1-859D-AFBAEB4ED271}" type="parTrans" cxnId="{9E9A2551-F3C2-4A20-BC1B-19EA5AB8F861}">
      <dgm:prSet/>
      <dgm:spPr/>
      <dgm:t>
        <a:bodyPr/>
        <a:lstStyle/>
        <a:p>
          <a:endParaRPr lang="en-IN"/>
        </a:p>
      </dgm:t>
    </dgm:pt>
    <dgm:pt modelId="{82E3F349-7DF4-4ABD-917C-00098C989BF4}" type="sibTrans" cxnId="{9E9A2551-F3C2-4A20-BC1B-19EA5AB8F861}">
      <dgm:prSet/>
      <dgm:spPr/>
      <dgm:t>
        <a:bodyPr/>
        <a:lstStyle/>
        <a:p>
          <a:endParaRPr lang="en-IN"/>
        </a:p>
      </dgm:t>
    </dgm:pt>
    <dgm:pt modelId="{ED902B63-F5A3-442C-B0D0-93222C58E8C4}" type="pres">
      <dgm:prSet presAssocID="{9D4A5E11-F973-4E2B-88D9-C02DD79591E6}" presName="linear" presStyleCnt="0">
        <dgm:presLayoutVars>
          <dgm:animLvl val="lvl"/>
          <dgm:resizeHandles val="exact"/>
        </dgm:presLayoutVars>
      </dgm:prSet>
      <dgm:spPr/>
    </dgm:pt>
    <dgm:pt modelId="{EF9C7796-CBD5-45A8-816F-549007B8B3BB}" type="pres">
      <dgm:prSet presAssocID="{DD424673-D077-47F8-9D9A-7F128F15523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D20D425-B216-4454-BE44-221F09063CBA}" type="pres">
      <dgm:prSet presAssocID="{DD424673-D077-47F8-9D9A-7F128F155237}" presName="childText" presStyleLbl="revTx" presStyleIdx="0" presStyleCnt="2">
        <dgm:presLayoutVars>
          <dgm:bulletEnabled val="1"/>
        </dgm:presLayoutVars>
      </dgm:prSet>
      <dgm:spPr/>
    </dgm:pt>
    <dgm:pt modelId="{2EA9B32E-BCDC-409B-A308-83F529DB0516}" type="pres">
      <dgm:prSet presAssocID="{7EB35A90-4CBD-40A0-9514-730317B02B3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A5D3F1F-8313-4757-8FCD-BEC8C014AFEF}" type="pres">
      <dgm:prSet presAssocID="{7EB35A90-4CBD-40A0-9514-730317B02B3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09EF104-757D-406C-B003-CDD89A2DA422}" type="presOf" srcId="{65807D03-6146-4041-B61F-7F66CADFDB2E}" destId="{4D20D425-B216-4454-BE44-221F09063CBA}" srcOrd="0" destOrd="1" presId="urn:microsoft.com/office/officeart/2005/8/layout/vList2"/>
    <dgm:cxn modelId="{8B3ABE07-2212-48AA-9D51-A8258D467600}" type="presOf" srcId="{39745DBA-01F0-4AAB-A56F-247464B5106E}" destId="{BA5D3F1F-8313-4757-8FCD-BEC8C014AFEF}" srcOrd="0" destOrd="0" presId="urn:microsoft.com/office/officeart/2005/8/layout/vList2"/>
    <dgm:cxn modelId="{C1FF5D0B-4B80-4523-AD75-94DEA674E3A9}" srcId="{9D4A5E11-F973-4E2B-88D9-C02DD79591E6}" destId="{DD424673-D077-47F8-9D9A-7F128F155237}" srcOrd="0" destOrd="0" parTransId="{7CC03464-0BE7-486D-AEA0-81AD14564AFE}" sibTransId="{EF832A82-49DA-49FE-9EB1-35C3287E2E66}"/>
    <dgm:cxn modelId="{846EF11E-C093-4FA3-B6DD-B4BAF8789795}" srcId="{7EB35A90-4CBD-40A0-9514-730317B02B3F}" destId="{39745DBA-01F0-4AAB-A56F-247464B5106E}" srcOrd="0" destOrd="0" parTransId="{50CA1358-3F71-4E54-A00D-1C6293D26F37}" sibTransId="{632F8FE9-0E76-44C3-864D-9AEE7B7FB344}"/>
    <dgm:cxn modelId="{986F7321-88E2-48A1-A921-86BBEDD444F0}" type="presOf" srcId="{04EA996A-8C00-48E8-AC06-73E82708DA5D}" destId="{4D20D425-B216-4454-BE44-221F09063CBA}" srcOrd="0" destOrd="3" presId="urn:microsoft.com/office/officeart/2005/8/layout/vList2"/>
    <dgm:cxn modelId="{5952B63E-67D9-42A2-8104-D9354F4C50FE}" srcId="{DD424673-D077-47F8-9D9A-7F128F155237}" destId="{65807D03-6146-4041-B61F-7F66CADFDB2E}" srcOrd="1" destOrd="0" parTransId="{026743DA-49A8-47C3-89D8-7971E64BE3D2}" sibTransId="{556E3B16-F88A-401A-BDCC-EA110898B15C}"/>
    <dgm:cxn modelId="{E7BF796C-989E-4379-A94E-93E25F75FD04}" srcId="{C1D16DD2-541A-4FD5-8125-BC3BDA3D5956}" destId="{04EA996A-8C00-48E8-AC06-73E82708DA5D}" srcOrd="0" destOrd="0" parTransId="{F26958D6-4C84-4828-B55A-EA70C81B02CD}" sibTransId="{2D6699ED-2C8B-4C5D-B58A-6BF89C567756}"/>
    <dgm:cxn modelId="{331CBB50-977A-4B80-993B-C519892E40EB}" type="presOf" srcId="{CD08C2F5-369B-429D-AA72-A8395CFA6CC9}" destId="{4D20D425-B216-4454-BE44-221F09063CBA}" srcOrd="0" destOrd="0" presId="urn:microsoft.com/office/officeart/2005/8/layout/vList2"/>
    <dgm:cxn modelId="{9E9A2551-F3C2-4A20-BC1B-19EA5AB8F861}" srcId="{DD424673-D077-47F8-9D9A-7F128F155237}" destId="{DDAF558D-7B09-4681-BD05-9866C1939DD5}" srcOrd="3" destOrd="0" parTransId="{613A258E-0C03-4CC1-859D-AFBAEB4ED271}" sibTransId="{82E3F349-7DF4-4ABD-917C-00098C989BF4}"/>
    <dgm:cxn modelId="{765F6980-7B8D-45D1-B3DE-55E7F6977422}" srcId="{DD424673-D077-47F8-9D9A-7F128F155237}" destId="{CD08C2F5-369B-429D-AA72-A8395CFA6CC9}" srcOrd="0" destOrd="0" parTransId="{2B69313B-2DCE-4C70-BAE7-C2F9986F9949}" sibTransId="{FD77F848-852D-4D89-B99B-02DBE3923E95}"/>
    <dgm:cxn modelId="{1B2BB1A4-FA71-4161-A031-EB1AB46AC139}" type="presOf" srcId="{493E6906-1A7F-4BFE-A001-B56EE06A26FF}" destId="{BA5D3F1F-8313-4757-8FCD-BEC8C014AFEF}" srcOrd="0" destOrd="1" presId="urn:microsoft.com/office/officeart/2005/8/layout/vList2"/>
    <dgm:cxn modelId="{1532B7A4-0FAF-450E-BF4C-AEF0486A39E7}" srcId="{7EB35A90-4CBD-40A0-9514-730317B02B3F}" destId="{493E6906-1A7F-4BFE-A001-B56EE06A26FF}" srcOrd="1" destOrd="0" parTransId="{8C57D5AD-58B3-41B1-BD36-C1AD4D86FE7F}" sibTransId="{DC290D6A-BAC6-4DDD-B4B0-FD9EAFDFC7B5}"/>
    <dgm:cxn modelId="{000134B2-C90A-404E-AC99-29055E677789}" srcId="{DD424673-D077-47F8-9D9A-7F128F155237}" destId="{C1D16DD2-541A-4FD5-8125-BC3BDA3D5956}" srcOrd="2" destOrd="0" parTransId="{DE0B12CB-FCB6-4A37-8635-1EB9BD3FDBB8}" sibTransId="{9FAF46DE-6EF9-4FDE-9C50-AF8BD41F0E7B}"/>
    <dgm:cxn modelId="{BF352CBC-009B-457E-9271-C929DE039140}" type="presOf" srcId="{DD424673-D077-47F8-9D9A-7F128F155237}" destId="{EF9C7796-CBD5-45A8-816F-549007B8B3BB}" srcOrd="0" destOrd="0" presId="urn:microsoft.com/office/officeart/2005/8/layout/vList2"/>
    <dgm:cxn modelId="{E8B644BD-F50D-481B-8758-352E79E28EF7}" srcId="{9D4A5E11-F973-4E2B-88D9-C02DD79591E6}" destId="{7EB35A90-4CBD-40A0-9514-730317B02B3F}" srcOrd="1" destOrd="0" parTransId="{4862823F-FFDB-4DED-9609-45122E5BF0B8}" sibTransId="{C32BEB12-9891-47E2-9BE9-94D39D5C4083}"/>
    <dgm:cxn modelId="{68B3DBBD-4BC7-4485-A3E5-DE46EC3AFCB3}" type="presOf" srcId="{DDAF558D-7B09-4681-BD05-9866C1939DD5}" destId="{4D20D425-B216-4454-BE44-221F09063CBA}" srcOrd="0" destOrd="4" presId="urn:microsoft.com/office/officeart/2005/8/layout/vList2"/>
    <dgm:cxn modelId="{2AB8A0C0-982B-43C3-99C9-F1C1A539FD19}" type="presOf" srcId="{9D4A5E11-F973-4E2B-88D9-C02DD79591E6}" destId="{ED902B63-F5A3-442C-B0D0-93222C58E8C4}" srcOrd="0" destOrd="0" presId="urn:microsoft.com/office/officeart/2005/8/layout/vList2"/>
    <dgm:cxn modelId="{08017DC2-DEF0-444D-A981-EA6361AAD2D3}" type="presOf" srcId="{7EB35A90-4CBD-40A0-9514-730317B02B3F}" destId="{2EA9B32E-BCDC-409B-A308-83F529DB0516}" srcOrd="0" destOrd="0" presId="urn:microsoft.com/office/officeart/2005/8/layout/vList2"/>
    <dgm:cxn modelId="{5BDDDFC6-3FAE-4CE2-9730-159B84316AC1}" type="presOf" srcId="{C1D16DD2-541A-4FD5-8125-BC3BDA3D5956}" destId="{4D20D425-B216-4454-BE44-221F09063CBA}" srcOrd="0" destOrd="2" presId="urn:microsoft.com/office/officeart/2005/8/layout/vList2"/>
    <dgm:cxn modelId="{C1B4A117-F80F-4872-A802-FE9A5389988D}" type="presParOf" srcId="{ED902B63-F5A3-442C-B0D0-93222C58E8C4}" destId="{EF9C7796-CBD5-45A8-816F-549007B8B3BB}" srcOrd="0" destOrd="0" presId="urn:microsoft.com/office/officeart/2005/8/layout/vList2"/>
    <dgm:cxn modelId="{7EB7B5B9-04F8-453C-9240-8AB6F06AAE23}" type="presParOf" srcId="{ED902B63-F5A3-442C-B0D0-93222C58E8C4}" destId="{4D20D425-B216-4454-BE44-221F09063CBA}" srcOrd="1" destOrd="0" presId="urn:microsoft.com/office/officeart/2005/8/layout/vList2"/>
    <dgm:cxn modelId="{1193DBDF-B223-4D88-8DBF-5F0C33B4D896}" type="presParOf" srcId="{ED902B63-F5A3-442C-B0D0-93222C58E8C4}" destId="{2EA9B32E-BCDC-409B-A308-83F529DB0516}" srcOrd="2" destOrd="0" presId="urn:microsoft.com/office/officeart/2005/8/layout/vList2"/>
    <dgm:cxn modelId="{FADDCA03-0DB4-4ACB-8B17-653D87F52FA2}" type="presParOf" srcId="{ED902B63-F5A3-442C-B0D0-93222C58E8C4}" destId="{BA5D3F1F-8313-4757-8FCD-BEC8C014AFE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15695A-B171-4802-B387-67A60D8755ED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A634556-507E-4D5A-9CF9-E9BE6D6D69B2}">
      <dgm:prSet/>
      <dgm:spPr/>
      <dgm:t>
        <a:bodyPr/>
        <a:lstStyle/>
        <a:p>
          <a:r>
            <a:rPr lang="en-IN" dirty="0"/>
            <a:t>Establish an empirical power-law kinetic model.</a:t>
          </a:r>
        </a:p>
      </dgm:t>
    </dgm:pt>
    <dgm:pt modelId="{B9E8F75E-C029-4BB7-ABD0-2B1C358B0ECD}" type="parTrans" cxnId="{4D2D032C-9146-4AF0-9230-1B69770E636F}">
      <dgm:prSet/>
      <dgm:spPr/>
      <dgm:t>
        <a:bodyPr/>
        <a:lstStyle/>
        <a:p>
          <a:endParaRPr lang="en-IN"/>
        </a:p>
      </dgm:t>
    </dgm:pt>
    <dgm:pt modelId="{7D80C75A-9774-484A-8EEC-213245D4028A}" type="sibTrans" cxnId="{4D2D032C-9146-4AF0-9230-1B69770E636F}">
      <dgm:prSet/>
      <dgm:spPr/>
      <dgm:t>
        <a:bodyPr/>
        <a:lstStyle/>
        <a:p>
          <a:endParaRPr lang="en-IN"/>
        </a:p>
      </dgm:t>
    </dgm:pt>
    <dgm:pt modelId="{63CBF4B3-D34D-49FB-8436-933C4D826434}">
      <dgm:prSet/>
      <dgm:spPr/>
      <dgm:t>
        <a:bodyPr/>
        <a:lstStyle/>
        <a:p>
          <a:r>
            <a:rPr lang="en-IN" dirty="0"/>
            <a:t>Develop a mechanistic Langmuir–Hinshelwood–Hougen–Watson (LHHW) model.</a:t>
          </a:r>
        </a:p>
      </dgm:t>
    </dgm:pt>
    <dgm:pt modelId="{C33B6BCF-2B40-4396-82F9-71242C9B991C}" type="parTrans" cxnId="{ACA5CA76-AFA8-48E5-9F9D-2AE92EAE08AC}">
      <dgm:prSet/>
      <dgm:spPr/>
      <dgm:t>
        <a:bodyPr/>
        <a:lstStyle/>
        <a:p>
          <a:endParaRPr lang="en-IN"/>
        </a:p>
      </dgm:t>
    </dgm:pt>
    <dgm:pt modelId="{D4830BBA-22C6-4CF7-9C9B-4BD58A683644}" type="sibTrans" cxnId="{ACA5CA76-AFA8-48E5-9F9D-2AE92EAE08AC}">
      <dgm:prSet/>
      <dgm:spPr/>
      <dgm:t>
        <a:bodyPr/>
        <a:lstStyle/>
        <a:p>
          <a:endParaRPr lang="en-IN"/>
        </a:p>
      </dgm:t>
    </dgm:pt>
    <dgm:pt modelId="{B65C42C9-CC2E-47D9-9260-647AE995AD7C}">
      <dgm:prSet/>
      <dgm:spPr/>
      <dgm:t>
        <a:bodyPr/>
        <a:lstStyle/>
        <a:p>
          <a:r>
            <a:rPr lang="en-IN" dirty="0"/>
            <a:t>Estimate kinetic &amp; thermodynamic parameters.</a:t>
          </a:r>
        </a:p>
      </dgm:t>
    </dgm:pt>
    <dgm:pt modelId="{E10EE7BE-3072-4890-AE53-29B82710E2A1}" type="parTrans" cxnId="{B6C86F44-7AC5-4360-B1CA-E655105B0A3F}">
      <dgm:prSet/>
      <dgm:spPr/>
      <dgm:t>
        <a:bodyPr/>
        <a:lstStyle/>
        <a:p>
          <a:endParaRPr lang="en-IN"/>
        </a:p>
      </dgm:t>
    </dgm:pt>
    <dgm:pt modelId="{C05F246B-04E8-4C40-A6C7-81A5A0520D78}" type="sibTrans" cxnId="{B6C86F44-7AC5-4360-B1CA-E655105B0A3F}">
      <dgm:prSet/>
      <dgm:spPr/>
      <dgm:t>
        <a:bodyPr/>
        <a:lstStyle/>
        <a:p>
          <a:endParaRPr lang="en-IN"/>
        </a:p>
      </dgm:t>
    </dgm:pt>
    <dgm:pt modelId="{C0103B6C-EEAC-4753-B7E3-4AF3A5CDABB6}">
      <dgm:prSet/>
      <dgm:spPr/>
      <dgm:t>
        <a:bodyPr/>
        <a:lstStyle/>
        <a:p>
          <a:r>
            <a:rPr lang="en-IN" dirty="0"/>
            <a:t>Validate models statistically.</a:t>
          </a:r>
        </a:p>
      </dgm:t>
    </dgm:pt>
    <dgm:pt modelId="{B7FC4D8C-CC87-4DC3-8186-B6C200DCB1CA}" type="parTrans" cxnId="{D5F14025-48E4-4CD1-9F2B-835D5420A89B}">
      <dgm:prSet/>
      <dgm:spPr/>
      <dgm:t>
        <a:bodyPr/>
        <a:lstStyle/>
        <a:p>
          <a:endParaRPr lang="en-IN"/>
        </a:p>
      </dgm:t>
    </dgm:pt>
    <dgm:pt modelId="{A5E4F621-C605-4C20-8EBB-90723CBF75DF}" type="sibTrans" cxnId="{D5F14025-48E4-4CD1-9F2B-835D5420A89B}">
      <dgm:prSet/>
      <dgm:spPr/>
      <dgm:t>
        <a:bodyPr/>
        <a:lstStyle/>
        <a:p>
          <a:endParaRPr lang="en-IN"/>
        </a:p>
      </dgm:t>
    </dgm:pt>
    <dgm:pt modelId="{CA6E72B6-2AD4-43B6-BEAD-4DEAC9FCF517}">
      <dgm:prSet/>
      <dgm:spPr/>
      <dgm:t>
        <a:bodyPr/>
        <a:lstStyle/>
        <a:p>
          <a:r>
            <a:rPr lang="en-IN"/>
            <a:t>Compare empirical (power law) and mechanistic (LHHW) kinetic models</a:t>
          </a:r>
        </a:p>
      </dgm:t>
    </dgm:pt>
    <dgm:pt modelId="{B49539BF-3837-402B-A05E-FE12CA377B52}" type="parTrans" cxnId="{E0280B92-E3AF-47AF-8882-12E6613D1A41}">
      <dgm:prSet/>
      <dgm:spPr/>
      <dgm:t>
        <a:bodyPr/>
        <a:lstStyle/>
        <a:p>
          <a:endParaRPr lang="en-IN"/>
        </a:p>
      </dgm:t>
    </dgm:pt>
    <dgm:pt modelId="{F15E5F33-1F63-4D14-BD46-8E1235642BC9}" type="sibTrans" cxnId="{E0280B92-E3AF-47AF-8882-12E6613D1A41}">
      <dgm:prSet/>
      <dgm:spPr/>
      <dgm:t>
        <a:bodyPr/>
        <a:lstStyle/>
        <a:p>
          <a:endParaRPr lang="en-IN"/>
        </a:p>
      </dgm:t>
    </dgm:pt>
    <dgm:pt modelId="{5FF82A67-CA9B-451F-8BB5-7753B86737BF}">
      <dgm:prSet/>
      <dgm:spPr/>
      <dgm:t>
        <a:bodyPr/>
        <a:lstStyle/>
        <a:p>
          <a:r>
            <a:rPr lang="en-IN"/>
            <a:t>Propose detailed reaction mechanism based on elementary surface reactions</a:t>
          </a:r>
        </a:p>
      </dgm:t>
    </dgm:pt>
    <dgm:pt modelId="{E3760C49-5302-4B48-88DE-453F2FD435A0}" type="parTrans" cxnId="{EF3CEF90-D657-4D59-BF9E-CD4A847184EE}">
      <dgm:prSet/>
      <dgm:spPr/>
      <dgm:t>
        <a:bodyPr/>
        <a:lstStyle/>
        <a:p>
          <a:endParaRPr lang="en-IN"/>
        </a:p>
      </dgm:t>
    </dgm:pt>
    <dgm:pt modelId="{15CF2259-7ECF-481F-B72A-8C9E75A20493}" type="sibTrans" cxnId="{EF3CEF90-D657-4D59-BF9E-CD4A847184EE}">
      <dgm:prSet/>
      <dgm:spPr/>
      <dgm:t>
        <a:bodyPr/>
        <a:lstStyle/>
        <a:p>
          <a:endParaRPr lang="en-IN"/>
        </a:p>
      </dgm:t>
    </dgm:pt>
    <dgm:pt modelId="{E4AC09D0-0D96-46F4-891B-28C954828B0C}" type="pres">
      <dgm:prSet presAssocID="{7915695A-B171-4802-B387-67A60D8755ED}" presName="Name0" presStyleCnt="0">
        <dgm:presLayoutVars>
          <dgm:chMax val="7"/>
          <dgm:chPref val="7"/>
          <dgm:dir/>
        </dgm:presLayoutVars>
      </dgm:prSet>
      <dgm:spPr/>
    </dgm:pt>
    <dgm:pt modelId="{1B0A967F-F642-4E1B-AD6A-CB03BDCB8BA5}" type="pres">
      <dgm:prSet presAssocID="{7915695A-B171-4802-B387-67A60D8755ED}" presName="Name1" presStyleCnt="0"/>
      <dgm:spPr/>
    </dgm:pt>
    <dgm:pt modelId="{38F249CA-142A-4D09-A09D-4D2FC8BE8AB9}" type="pres">
      <dgm:prSet presAssocID="{7915695A-B171-4802-B387-67A60D8755ED}" presName="cycle" presStyleCnt="0"/>
      <dgm:spPr/>
    </dgm:pt>
    <dgm:pt modelId="{793CA576-B28D-4E63-9AA8-8EEEAA1A7809}" type="pres">
      <dgm:prSet presAssocID="{7915695A-B171-4802-B387-67A60D8755ED}" presName="srcNode" presStyleLbl="node1" presStyleIdx="0" presStyleCnt="6"/>
      <dgm:spPr/>
    </dgm:pt>
    <dgm:pt modelId="{9D9FD278-F013-4A65-8BBF-E3C95AD9A70F}" type="pres">
      <dgm:prSet presAssocID="{7915695A-B171-4802-B387-67A60D8755ED}" presName="conn" presStyleLbl="parChTrans1D2" presStyleIdx="0" presStyleCnt="1"/>
      <dgm:spPr/>
    </dgm:pt>
    <dgm:pt modelId="{D42129B2-42DA-4B36-9110-E99CC695ED8F}" type="pres">
      <dgm:prSet presAssocID="{7915695A-B171-4802-B387-67A60D8755ED}" presName="extraNode" presStyleLbl="node1" presStyleIdx="0" presStyleCnt="6"/>
      <dgm:spPr/>
    </dgm:pt>
    <dgm:pt modelId="{4C3E8FC4-1A91-44F1-A93B-DC0AFCEFF1FC}" type="pres">
      <dgm:prSet presAssocID="{7915695A-B171-4802-B387-67A60D8755ED}" presName="dstNode" presStyleLbl="node1" presStyleIdx="0" presStyleCnt="6"/>
      <dgm:spPr/>
    </dgm:pt>
    <dgm:pt modelId="{50D083E0-D95E-4746-B06E-9353C15BF253}" type="pres">
      <dgm:prSet presAssocID="{0A634556-507E-4D5A-9CF9-E9BE6D6D69B2}" presName="text_1" presStyleLbl="node1" presStyleIdx="0" presStyleCnt="6">
        <dgm:presLayoutVars>
          <dgm:bulletEnabled val="1"/>
        </dgm:presLayoutVars>
      </dgm:prSet>
      <dgm:spPr/>
    </dgm:pt>
    <dgm:pt modelId="{B368D6FE-F3EB-4F44-B7CA-84A25837FCDC}" type="pres">
      <dgm:prSet presAssocID="{0A634556-507E-4D5A-9CF9-E9BE6D6D69B2}" presName="accent_1" presStyleCnt="0"/>
      <dgm:spPr/>
    </dgm:pt>
    <dgm:pt modelId="{06DE795E-3656-49B2-8281-304DD97753EF}" type="pres">
      <dgm:prSet presAssocID="{0A634556-507E-4D5A-9CF9-E9BE6D6D69B2}" presName="accentRepeatNode" presStyleLbl="solidFgAcc1" presStyleIdx="0" presStyleCnt="6"/>
      <dgm:spPr/>
    </dgm:pt>
    <dgm:pt modelId="{D2EC481E-E894-4667-B3A6-4D1AC51DAACA}" type="pres">
      <dgm:prSet presAssocID="{5FF82A67-CA9B-451F-8BB5-7753B86737BF}" presName="text_2" presStyleLbl="node1" presStyleIdx="1" presStyleCnt="6">
        <dgm:presLayoutVars>
          <dgm:bulletEnabled val="1"/>
        </dgm:presLayoutVars>
      </dgm:prSet>
      <dgm:spPr/>
    </dgm:pt>
    <dgm:pt modelId="{1049B8EE-8C3D-4CBA-802B-E87E0DBCF1A3}" type="pres">
      <dgm:prSet presAssocID="{5FF82A67-CA9B-451F-8BB5-7753B86737BF}" presName="accent_2" presStyleCnt="0"/>
      <dgm:spPr/>
    </dgm:pt>
    <dgm:pt modelId="{3BAC2139-6A41-418E-A2EA-C39467DDE136}" type="pres">
      <dgm:prSet presAssocID="{5FF82A67-CA9B-451F-8BB5-7753B86737BF}" presName="accentRepeatNode" presStyleLbl="solidFgAcc1" presStyleIdx="1" presStyleCnt="6"/>
      <dgm:spPr/>
    </dgm:pt>
    <dgm:pt modelId="{8739372B-D79A-4D38-92D7-7E92CB67417F}" type="pres">
      <dgm:prSet presAssocID="{63CBF4B3-D34D-49FB-8436-933C4D826434}" presName="text_3" presStyleLbl="node1" presStyleIdx="2" presStyleCnt="6">
        <dgm:presLayoutVars>
          <dgm:bulletEnabled val="1"/>
        </dgm:presLayoutVars>
      </dgm:prSet>
      <dgm:spPr/>
    </dgm:pt>
    <dgm:pt modelId="{8781A264-1EE3-429E-B480-E5218DAAB8DC}" type="pres">
      <dgm:prSet presAssocID="{63CBF4B3-D34D-49FB-8436-933C4D826434}" presName="accent_3" presStyleCnt="0"/>
      <dgm:spPr/>
    </dgm:pt>
    <dgm:pt modelId="{52A67EF5-3094-4AB3-8BF0-3625734BAB4A}" type="pres">
      <dgm:prSet presAssocID="{63CBF4B3-D34D-49FB-8436-933C4D826434}" presName="accentRepeatNode" presStyleLbl="solidFgAcc1" presStyleIdx="2" presStyleCnt="6"/>
      <dgm:spPr/>
    </dgm:pt>
    <dgm:pt modelId="{80D8B95E-FF58-451F-9F59-52CA48483B0F}" type="pres">
      <dgm:prSet presAssocID="{B65C42C9-CC2E-47D9-9260-647AE995AD7C}" presName="text_4" presStyleLbl="node1" presStyleIdx="3" presStyleCnt="6">
        <dgm:presLayoutVars>
          <dgm:bulletEnabled val="1"/>
        </dgm:presLayoutVars>
      </dgm:prSet>
      <dgm:spPr/>
    </dgm:pt>
    <dgm:pt modelId="{72EE6570-2786-41E7-AE64-819E04B32757}" type="pres">
      <dgm:prSet presAssocID="{B65C42C9-CC2E-47D9-9260-647AE995AD7C}" presName="accent_4" presStyleCnt="0"/>
      <dgm:spPr/>
    </dgm:pt>
    <dgm:pt modelId="{F326413A-1C0D-4D29-AF4C-E9ADC47EC05A}" type="pres">
      <dgm:prSet presAssocID="{B65C42C9-CC2E-47D9-9260-647AE995AD7C}" presName="accentRepeatNode" presStyleLbl="solidFgAcc1" presStyleIdx="3" presStyleCnt="6"/>
      <dgm:spPr/>
    </dgm:pt>
    <dgm:pt modelId="{01085E00-4BEB-435B-B1DA-22FA8C5973A2}" type="pres">
      <dgm:prSet presAssocID="{C0103B6C-EEAC-4753-B7E3-4AF3A5CDABB6}" presName="text_5" presStyleLbl="node1" presStyleIdx="4" presStyleCnt="6">
        <dgm:presLayoutVars>
          <dgm:bulletEnabled val="1"/>
        </dgm:presLayoutVars>
      </dgm:prSet>
      <dgm:spPr/>
    </dgm:pt>
    <dgm:pt modelId="{A72AA0BD-BCE7-4D17-89EB-8BE84AFFB27E}" type="pres">
      <dgm:prSet presAssocID="{C0103B6C-EEAC-4753-B7E3-4AF3A5CDABB6}" presName="accent_5" presStyleCnt="0"/>
      <dgm:spPr/>
    </dgm:pt>
    <dgm:pt modelId="{A20E0EF0-D0C5-4582-9611-3191D3E5FA9C}" type="pres">
      <dgm:prSet presAssocID="{C0103B6C-EEAC-4753-B7E3-4AF3A5CDABB6}" presName="accentRepeatNode" presStyleLbl="solidFgAcc1" presStyleIdx="4" presStyleCnt="6"/>
      <dgm:spPr/>
    </dgm:pt>
    <dgm:pt modelId="{9F2CA3FB-D1BD-4B75-A396-2EDF5A0FB5E4}" type="pres">
      <dgm:prSet presAssocID="{CA6E72B6-2AD4-43B6-BEAD-4DEAC9FCF517}" presName="text_6" presStyleLbl="node1" presStyleIdx="5" presStyleCnt="6">
        <dgm:presLayoutVars>
          <dgm:bulletEnabled val="1"/>
        </dgm:presLayoutVars>
      </dgm:prSet>
      <dgm:spPr/>
    </dgm:pt>
    <dgm:pt modelId="{7FA6F14D-10C4-4D09-A8B2-623E24A038A8}" type="pres">
      <dgm:prSet presAssocID="{CA6E72B6-2AD4-43B6-BEAD-4DEAC9FCF517}" presName="accent_6" presStyleCnt="0"/>
      <dgm:spPr/>
    </dgm:pt>
    <dgm:pt modelId="{8D62662C-070C-4628-A8E1-5DE32A14C7B3}" type="pres">
      <dgm:prSet presAssocID="{CA6E72B6-2AD4-43B6-BEAD-4DEAC9FCF517}" presName="accentRepeatNode" presStyleLbl="solidFgAcc1" presStyleIdx="5" presStyleCnt="6"/>
      <dgm:spPr/>
    </dgm:pt>
  </dgm:ptLst>
  <dgm:cxnLst>
    <dgm:cxn modelId="{F55E0316-DB44-47F6-A751-AAA50CDECB61}" type="presOf" srcId="{C0103B6C-EEAC-4753-B7E3-4AF3A5CDABB6}" destId="{01085E00-4BEB-435B-B1DA-22FA8C5973A2}" srcOrd="0" destOrd="0" presId="urn:microsoft.com/office/officeart/2008/layout/VerticalCurvedList"/>
    <dgm:cxn modelId="{D5F14025-48E4-4CD1-9F2B-835D5420A89B}" srcId="{7915695A-B171-4802-B387-67A60D8755ED}" destId="{C0103B6C-EEAC-4753-B7E3-4AF3A5CDABB6}" srcOrd="4" destOrd="0" parTransId="{B7FC4D8C-CC87-4DC3-8186-B6C200DCB1CA}" sibTransId="{A5E4F621-C605-4C20-8EBB-90723CBF75DF}"/>
    <dgm:cxn modelId="{4D2D032C-9146-4AF0-9230-1B69770E636F}" srcId="{7915695A-B171-4802-B387-67A60D8755ED}" destId="{0A634556-507E-4D5A-9CF9-E9BE6D6D69B2}" srcOrd="0" destOrd="0" parTransId="{B9E8F75E-C029-4BB7-ABD0-2B1C358B0ECD}" sibTransId="{7D80C75A-9774-484A-8EEC-213245D4028A}"/>
    <dgm:cxn modelId="{8377E441-0051-439E-A681-B6D176DC72B1}" type="presOf" srcId="{CA6E72B6-2AD4-43B6-BEAD-4DEAC9FCF517}" destId="{9F2CA3FB-D1BD-4B75-A396-2EDF5A0FB5E4}" srcOrd="0" destOrd="0" presId="urn:microsoft.com/office/officeart/2008/layout/VerticalCurvedList"/>
    <dgm:cxn modelId="{B6C86F44-7AC5-4360-B1CA-E655105B0A3F}" srcId="{7915695A-B171-4802-B387-67A60D8755ED}" destId="{B65C42C9-CC2E-47D9-9260-647AE995AD7C}" srcOrd="3" destOrd="0" parTransId="{E10EE7BE-3072-4890-AE53-29B82710E2A1}" sibTransId="{C05F246B-04E8-4C40-A6C7-81A5A0520D78}"/>
    <dgm:cxn modelId="{38763C6A-0DA6-4C4E-B1BD-05C081084A12}" type="presOf" srcId="{7D80C75A-9774-484A-8EEC-213245D4028A}" destId="{9D9FD278-F013-4A65-8BBF-E3C95AD9A70F}" srcOrd="0" destOrd="0" presId="urn:microsoft.com/office/officeart/2008/layout/VerticalCurvedList"/>
    <dgm:cxn modelId="{ACA5CA76-AFA8-48E5-9F9D-2AE92EAE08AC}" srcId="{7915695A-B171-4802-B387-67A60D8755ED}" destId="{63CBF4B3-D34D-49FB-8436-933C4D826434}" srcOrd="2" destOrd="0" parTransId="{C33B6BCF-2B40-4396-82F9-71242C9B991C}" sibTransId="{D4830BBA-22C6-4CF7-9C9B-4BD58A683644}"/>
    <dgm:cxn modelId="{9338A984-2CCE-44AB-BA2F-00597DFE7A0B}" type="presOf" srcId="{0A634556-507E-4D5A-9CF9-E9BE6D6D69B2}" destId="{50D083E0-D95E-4746-B06E-9353C15BF253}" srcOrd="0" destOrd="0" presId="urn:microsoft.com/office/officeart/2008/layout/VerticalCurvedList"/>
    <dgm:cxn modelId="{EF3CEF90-D657-4D59-BF9E-CD4A847184EE}" srcId="{7915695A-B171-4802-B387-67A60D8755ED}" destId="{5FF82A67-CA9B-451F-8BB5-7753B86737BF}" srcOrd="1" destOrd="0" parTransId="{E3760C49-5302-4B48-88DE-453F2FD435A0}" sibTransId="{15CF2259-7ECF-481F-B72A-8C9E75A20493}"/>
    <dgm:cxn modelId="{E0280B92-E3AF-47AF-8882-12E6613D1A41}" srcId="{7915695A-B171-4802-B387-67A60D8755ED}" destId="{CA6E72B6-2AD4-43B6-BEAD-4DEAC9FCF517}" srcOrd="5" destOrd="0" parTransId="{B49539BF-3837-402B-A05E-FE12CA377B52}" sibTransId="{F15E5F33-1F63-4D14-BD46-8E1235642BC9}"/>
    <dgm:cxn modelId="{ADCBE39D-7962-44F9-96C6-9E2960A9D88C}" type="presOf" srcId="{5FF82A67-CA9B-451F-8BB5-7753B86737BF}" destId="{D2EC481E-E894-4667-B3A6-4D1AC51DAACA}" srcOrd="0" destOrd="0" presId="urn:microsoft.com/office/officeart/2008/layout/VerticalCurvedList"/>
    <dgm:cxn modelId="{9A2535DC-9C1C-4A53-8E68-35643099B198}" type="presOf" srcId="{63CBF4B3-D34D-49FB-8436-933C4D826434}" destId="{8739372B-D79A-4D38-92D7-7E92CB67417F}" srcOrd="0" destOrd="0" presId="urn:microsoft.com/office/officeart/2008/layout/VerticalCurvedList"/>
    <dgm:cxn modelId="{7DE4C1E9-3FB2-40CA-B0A1-BA2E89676066}" type="presOf" srcId="{7915695A-B171-4802-B387-67A60D8755ED}" destId="{E4AC09D0-0D96-46F4-891B-28C954828B0C}" srcOrd="0" destOrd="0" presId="urn:microsoft.com/office/officeart/2008/layout/VerticalCurvedList"/>
    <dgm:cxn modelId="{01AAC9FD-13E1-4575-B390-8714151B0BA8}" type="presOf" srcId="{B65C42C9-CC2E-47D9-9260-647AE995AD7C}" destId="{80D8B95E-FF58-451F-9F59-52CA48483B0F}" srcOrd="0" destOrd="0" presId="urn:microsoft.com/office/officeart/2008/layout/VerticalCurvedList"/>
    <dgm:cxn modelId="{24370FB6-A1CC-4FF5-839F-B1672E23D974}" type="presParOf" srcId="{E4AC09D0-0D96-46F4-891B-28C954828B0C}" destId="{1B0A967F-F642-4E1B-AD6A-CB03BDCB8BA5}" srcOrd="0" destOrd="0" presId="urn:microsoft.com/office/officeart/2008/layout/VerticalCurvedList"/>
    <dgm:cxn modelId="{77B7EAE1-194D-4287-A81E-1DEA8FDC7AFB}" type="presParOf" srcId="{1B0A967F-F642-4E1B-AD6A-CB03BDCB8BA5}" destId="{38F249CA-142A-4D09-A09D-4D2FC8BE8AB9}" srcOrd="0" destOrd="0" presId="urn:microsoft.com/office/officeart/2008/layout/VerticalCurvedList"/>
    <dgm:cxn modelId="{27FCE0D3-3AAF-4114-ADD2-3668567D0BA1}" type="presParOf" srcId="{38F249CA-142A-4D09-A09D-4D2FC8BE8AB9}" destId="{793CA576-B28D-4E63-9AA8-8EEEAA1A7809}" srcOrd="0" destOrd="0" presId="urn:microsoft.com/office/officeart/2008/layout/VerticalCurvedList"/>
    <dgm:cxn modelId="{E7358189-9B58-411D-8A2C-C9DFE60B260D}" type="presParOf" srcId="{38F249CA-142A-4D09-A09D-4D2FC8BE8AB9}" destId="{9D9FD278-F013-4A65-8BBF-E3C95AD9A70F}" srcOrd="1" destOrd="0" presId="urn:microsoft.com/office/officeart/2008/layout/VerticalCurvedList"/>
    <dgm:cxn modelId="{77AA3ED4-5E06-40AA-BDC9-42C7DC8CCC69}" type="presParOf" srcId="{38F249CA-142A-4D09-A09D-4D2FC8BE8AB9}" destId="{D42129B2-42DA-4B36-9110-E99CC695ED8F}" srcOrd="2" destOrd="0" presId="urn:microsoft.com/office/officeart/2008/layout/VerticalCurvedList"/>
    <dgm:cxn modelId="{3BC95991-AFC3-4926-9BEF-54AAA3CDEC40}" type="presParOf" srcId="{38F249CA-142A-4D09-A09D-4D2FC8BE8AB9}" destId="{4C3E8FC4-1A91-44F1-A93B-DC0AFCEFF1FC}" srcOrd="3" destOrd="0" presId="urn:microsoft.com/office/officeart/2008/layout/VerticalCurvedList"/>
    <dgm:cxn modelId="{5DEC76BD-812C-4CDD-BC52-3D52AFC0A2C2}" type="presParOf" srcId="{1B0A967F-F642-4E1B-AD6A-CB03BDCB8BA5}" destId="{50D083E0-D95E-4746-B06E-9353C15BF253}" srcOrd="1" destOrd="0" presId="urn:microsoft.com/office/officeart/2008/layout/VerticalCurvedList"/>
    <dgm:cxn modelId="{BDD549C6-B2F6-4E4A-85D4-0F15CD4229F0}" type="presParOf" srcId="{1B0A967F-F642-4E1B-AD6A-CB03BDCB8BA5}" destId="{B368D6FE-F3EB-4F44-B7CA-84A25837FCDC}" srcOrd="2" destOrd="0" presId="urn:microsoft.com/office/officeart/2008/layout/VerticalCurvedList"/>
    <dgm:cxn modelId="{4163815F-53D5-4A1F-BD1F-67864C7F7471}" type="presParOf" srcId="{B368D6FE-F3EB-4F44-B7CA-84A25837FCDC}" destId="{06DE795E-3656-49B2-8281-304DD97753EF}" srcOrd="0" destOrd="0" presId="urn:microsoft.com/office/officeart/2008/layout/VerticalCurvedList"/>
    <dgm:cxn modelId="{6DE6D17B-54C6-438D-8A9C-B3D4C48BA61B}" type="presParOf" srcId="{1B0A967F-F642-4E1B-AD6A-CB03BDCB8BA5}" destId="{D2EC481E-E894-4667-B3A6-4D1AC51DAACA}" srcOrd="3" destOrd="0" presId="urn:microsoft.com/office/officeart/2008/layout/VerticalCurvedList"/>
    <dgm:cxn modelId="{160B6252-9731-44C8-8343-61B59E16C4DC}" type="presParOf" srcId="{1B0A967F-F642-4E1B-AD6A-CB03BDCB8BA5}" destId="{1049B8EE-8C3D-4CBA-802B-E87E0DBCF1A3}" srcOrd="4" destOrd="0" presId="urn:microsoft.com/office/officeart/2008/layout/VerticalCurvedList"/>
    <dgm:cxn modelId="{A1575158-282D-40C9-813E-590C8A3E0D3F}" type="presParOf" srcId="{1049B8EE-8C3D-4CBA-802B-E87E0DBCF1A3}" destId="{3BAC2139-6A41-418E-A2EA-C39467DDE136}" srcOrd="0" destOrd="0" presId="urn:microsoft.com/office/officeart/2008/layout/VerticalCurvedList"/>
    <dgm:cxn modelId="{4C0417DA-09DB-437F-9636-A01BC2A7A97B}" type="presParOf" srcId="{1B0A967F-F642-4E1B-AD6A-CB03BDCB8BA5}" destId="{8739372B-D79A-4D38-92D7-7E92CB67417F}" srcOrd="5" destOrd="0" presId="urn:microsoft.com/office/officeart/2008/layout/VerticalCurvedList"/>
    <dgm:cxn modelId="{C88A1C41-61FA-4855-9182-1A97B0D8189D}" type="presParOf" srcId="{1B0A967F-F642-4E1B-AD6A-CB03BDCB8BA5}" destId="{8781A264-1EE3-429E-B480-E5218DAAB8DC}" srcOrd="6" destOrd="0" presId="urn:microsoft.com/office/officeart/2008/layout/VerticalCurvedList"/>
    <dgm:cxn modelId="{8924F429-2FE0-48E0-AFA9-3910B1DB89B1}" type="presParOf" srcId="{8781A264-1EE3-429E-B480-E5218DAAB8DC}" destId="{52A67EF5-3094-4AB3-8BF0-3625734BAB4A}" srcOrd="0" destOrd="0" presId="urn:microsoft.com/office/officeart/2008/layout/VerticalCurvedList"/>
    <dgm:cxn modelId="{9C84F900-7B4A-4016-AB2E-594E8D77AF29}" type="presParOf" srcId="{1B0A967F-F642-4E1B-AD6A-CB03BDCB8BA5}" destId="{80D8B95E-FF58-451F-9F59-52CA48483B0F}" srcOrd="7" destOrd="0" presId="urn:microsoft.com/office/officeart/2008/layout/VerticalCurvedList"/>
    <dgm:cxn modelId="{BCA709DA-3B07-483C-B1F2-E1875E0213C8}" type="presParOf" srcId="{1B0A967F-F642-4E1B-AD6A-CB03BDCB8BA5}" destId="{72EE6570-2786-41E7-AE64-819E04B32757}" srcOrd="8" destOrd="0" presId="urn:microsoft.com/office/officeart/2008/layout/VerticalCurvedList"/>
    <dgm:cxn modelId="{B4DC9EF3-D08D-4AC3-A1A4-9D073FA2D821}" type="presParOf" srcId="{72EE6570-2786-41E7-AE64-819E04B32757}" destId="{F326413A-1C0D-4D29-AF4C-E9ADC47EC05A}" srcOrd="0" destOrd="0" presId="urn:microsoft.com/office/officeart/2008/layout/VerticalCurvedList"/>
    <dgm:cxn modelId="{89E07E2F-19BC-4772-B5DE-9B1EBC4AE3BB}" type="presParOf" srcId="{1B0A967F-F642-4E1B-AD6A-CB03BDCB8BA5}" destId="{01085E00-4BEB-435B-B1DA-22FA8C5973A2}" srcOrd="9" destOrd="0" presId="urn:microsoft.com/office/officeart/2008/layout/VerticalCurvedList"/>
    <dgm:cxn modelId="{7ED1FA45-CD8F-4709-8A92-549911AEEC1A}" type="presParOf" srcId="{1B0A967F-F642-4E1B-AD6A-CB03BDCB8BA5}" destId="{A72AA0BD-BCE7-4D17-89EB-8BE84AFFB27E}" srcOrd="10" destOrd="0" presId="urn:microsoft.com/office/officeart/2008/layout/VerticalCurvedList"/>
    <dgm:cxn modelId="{ADC8ABB8-990C-481C-9DD9-08DDAAE607D9}" type="presParOf" srcId="{A72AA0BD-BCE7-4D17-89EB-8BE84AFFB27E}" destId="{A20E0EF0-D0C5-4582-9611-3191D3E5FA9C}" srcOrd="0" destOrd="0" presId="urn:microsoft.com/office/officeart/2008/layout/VerticalCurvedList"/>
    <dgm:cxn modelId="{AEA74302-A28B-4983-A194-16051B36DB39}" type="presParOf" srcId="{1B0A967F-F642-4E1B-AD6A-CB03BDCB8BA5}" destId="{9F2CA3FB-D1BD-4B75-A396-2EDF5A0FB5E4}" srcOrd="11" destOrd="0" presId="urn:microsoft.com/office/officeart/2008/layout/VerticalCurvedList"/>
    <dgm:cxn modelId="{F7A4AAF6-4C45-4868-A517-91DDB226A9E9}" type="presParOf" srcId="{1B0A967F-F642-4E1B-AD6A-CB03BDCB8BA5}" destId="{7FA6F14D-10C4-4D09-A8B2-623E24A038A8}" srcOrd="12" destOrd="0" presId="urn:microsoft.com/office/officeart/2008/layout/VerticalCurvedList"/>
    <dgm:cxn modelId="{BDD74071-AF59-4345-8920-4777C1F36011}" type="presParOf" srcId="{7FA6F14D-10C4-4D09-A8B2-623E24A038A8}" destId="{8D62662C-070C-4628-A8E1-5DE32A14C7B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C7796-CBD5-45A8-816F-549007B8B3BB}">
      <dsp:nvSpPr>
        <dsp:cNvPr id="0" name=""/>
        <dsp:cNvSpPr/>
      </dsp:nvSpPr>
      <dsp:spPr>
        <a:xfrm>
          <a:off x="0" y="163994"/>
          <a:ext cx="6993835" cy="4557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MOTIVATION</a:t>
          </a:r>
          <a:endParaRPr lang="en-IN" sz="1900" kern="1200"/>
        </a:p>
      </dsp:txBody>
      <dsp:txXfrm>
        <a:off x="22246" y="186240"/>
        <a:ext cx="6949343" cy="411223"/>
      </dsp:txXfrm>
    </dsp:sp>
    <dsp:sp modelId="{4D20D425-B216-4454-BE44-221F09063CBA}">
      <dsp:nvSpPr>
        <dsp:cNvPr id="0" name=""/>
        <dsp:cNvSpPr/>
      </dsp:nvSpPr>
      <dsp:spPr>
        <a:xfrm>
          <a:off x="0" y="619709"/>
          <a:ext cx="6993835" cy="1494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05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500" kern="1200" dirty="0"/>
            <a:t>Furfural is a key biomass-derived platform molecule obtained from lignocellulosic feedstocks.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500" kern="1200"/>
            <a:t>Upgrading furfural to fuels enhances the value of renewable biomass resources.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500" kern="1200" dirty="0"/>
            <a:t>Target product: 2-Methylfuran (2-MF)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500" kern="1200" dirty="0"/>
            <a:t>High energy density biofuel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500" b="0" kern="1200" dirty="0"/>
            <a:t>Catalyst:</a:t>
          </a:r>
          <a:r>
            <a:rPr lang="en-IN" sz="1500" kern="1200" dirty="0"/>
            <a:t> </a:t>
          </a:r>
          <a:r>
            <a:rPr lang="en-IN" sz="1500" kern="1200" dirty="0" err="1"/>
            <a:t>CuFe₂O</a:t>
          </a:r>
          <a:r>
            <a:rPr lang="en-IN" sz="1500" kern="1200" dirty="0"/>
            <a:t>₄ (Copper Ferrite) + Cu/Fe2O3</a:t>
          </a:r>
        </a:p>
      </dsp:txBody>
      <dsp:txXfrm>
        <a:off x="0" y="619709"/>
        <a:ext cx="6993835" cy="1494540"/>
      </dsp:txXfrm>
    </dsp:sp>
    <dsp:sp modelId="{2EA9B32E-BCDC-409B-A308-83F529DB0516}">
      <dsp:nvSpPr>
        <dsp:cNvPr id="0" name=""/>
        <dsp:cNvSpPr/>
      </dsp:nvSpPr>
      <dsp:spPr>
        <a:xfrm>
          <a:off x="0" y="2114249"/>
          <a:ext cx="6993835" cy="4557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SIGNIFICANCE OF KINETIC STUDY</a:t>
          </a:r>
          <a:endParaRPr lang="en-IN" sz="1900" kern="1200" dirty="0"/>
        </a:p>
      </dsp:txBody>
      <dsp:txXfrm>
        <a:off x="22246" y="2136495"/>
        <a:ext cx="6949343" cy="411223"/>
      </dsp:txXfrm>
    </dsp:sp>
    <dsp:sp modelId="{BA5D3F1F-8313-4757-8FCD-BEC8C014AFEF}">
      <dsp:nvSpPr>
        <dsp:cNvPr id="0" name=""/>
        <dsp:cNvSpPr/>
      </dsp:nvSpPr>
      <dsp:spPr>
        <a:xfrm>
          <a:off x="0" y="2569964"/>
          <a:ext cx="6993835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05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500" kern="1200" dirty="0"/>
            <a:t>Helps identify rate controlling steps and adsorption effects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500" kern="1200" dirty="0"/>
            <a:t>Provides mechanistic understanding beyond empirical correlations</a:t>
          </a:r>
        </a:p>
      </dsp:txBody>
      <dsp:txXfrm>
        <a:off x="0" y="2569964"/>
        <a:ext cx="6993835" cy="5211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FD278-F013-4A65-8BBF-E3C95AD9A70F}">
      <dsp:nvSpPr>
        <dsp:cNvPr id="0" name=""/>
        <dsp:cNvSpPr/>
      </dsp:nvSpPr>
      <dsp:spPr>
        <a:xfrm>
          <a:off x="-5095181" y="-780549"/>
          <a:ext cx="6067784" cy="6067784"/>
        </a:xfrm>
        <a:prstGeom prst="blockArc">
          <a:avLst>
            <a:gd name="adj1" fmla="val 18900000"/>
            <a:gd name="adj2" fmla="val 2700000"/>
            <a:gd name="adj3" fmla="val 356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D083E0-D95E-4746-B06E-9353C15BF253}">
      <dsp:nvSpPr>
        <dsp:cNvPr id="0" name=""/>
        <dsp:cNvSpPr/>
      </dsp:nvSpPr>
      <dsp:spPr>
        <a:xfrm>
          <a:off x="362802" y="237322"/>
          <a:ext cx="7332181" cy="4744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660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Establish an empirical power-law kinetic model.</a:t>
          </a:r>
        </a:p>
      </dsp:txBody>
      <dsp:txXfrm>
        <a:off x="362802" y="237322"/>
        <a:ext cx="7332181" cy="474463"/>
      </dsp:txXfrm>
    </dsp:sp>
    <dsp:sp modelId="{06DE795E-3656-49B2-8281-304DD97753EF}">
      <dsp:nvSpPr>
        <dsp:cNvPr id="0" name=""/>
        <dsp:cNvSpPr/>
      </dsp:nvSpPr>
      <dsp:spPr>
        <a:xfrm>
          <a:off x="66262" y="178014"/>
          <a:ext cx="593079" cy="59307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2EC481E-E894-4667-B3A6-4D1AC51DAACA}">
      <dsp:nvSpPr>
        <dsp:cNvPr id="0" name=""/>
        <dsp:cNvSpPr/>
      </dsp:nvSpPr>
      <dsp:spPr>
        <a:xfrm>
          <a:off x="753081" y="948927"/>
          <a:ext cx="6941902" cy="4744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660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Propose detailed reaction mechanism based on elementary surface reactions</a:t>
          </a:r>
        </a:p>
      </dsp:txBody>
      <dsp:txXfrm>
        <a:off x="753081" y="948927"/>
        <a:ext cx="6941902" cy="474463"/>
      </dsp:txXfrm>
    </dsp:sp>
    <dsp:sp modelId="{3BAC2139-6A41-418E-A2EA-C39467DDE136}">
      <dsp:nvSpPr>
        <dsp:cNvPr id="0" name=""/>
        <dsp:cNvSpPr/>
      </dsp:nvSpPr>
      <dsp:spPr>
        <a:xfrm>
          <a:off x="456541" y="889619"/>
          <a:ext cx="593079" cy="59307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739372B-D79A-4D38-92D7-7E92CB67417F}">
      <dsp:nvSpPr>
        <dsp:cNvPr id="0" name=""/>
        <dsp:cNvSpPr/>
      </dsp:nvSpPr>
      <dsp:spPr>
        <a:xfrm>
          <a:off x="931545" y="1660533"/>
          <a:ext cx="6763437" cy="4744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660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Develop a mechanistic Langmuir–Hinshelwood–Hougen–Watson (LHHW) model.</a:t>
          </a:r>
        </a:p>
      </dsp:txBody>
      <dsp:txXfrm>
        <a:off x="931545" y="1660533"/>
        <a:ext cx="6763437" cy="474463"/>
      </dsp:txXfrm>
    </dsp:sp>
    <dsp:sp modelId="{52A67EF5-3094-4AB3-8BF0-3625734BAB4A}">
      <dsp:nvSpPr>
        <dsp:cNvPr id="0" name=""/>
        <dsp:cNvSpPr/>
      </dsp:nvSpPr>
      <dsp:spPr>
        <a:xfrm>
          <a:off x="635005" y="1601225"/>
          <a:ext cx="593079" cy="59307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0D8B95E-FF58-451F-9F59-52CA48483B0F}">
      <dsp:nvSpPr>
        <dsp:cNvPr id="0" name=""/>
        <dsp:cNvSpPr/>
      </dsp:nvSpPr>
      <dsp:spPr>
        <a:xfrm>
          <a:off x="931545" y="2371688"/>
          <a:ext cx="6763437" cy="4744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660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Estimate kinetic &amp; thermodynamic parameters.</a:t>
          </a:r>
        </a:p>
      </dsp:txBody>
      <dsp:txXfrm>
        <a:off x="931545" y="2371688"/>
        <a:ext cx="6763437" cy="474463"/>
      </dsp:txXfrm>
    </dsp:sp>
    <dsp:sp modelId="{F326413A-1C0D-4D29-AF4C-E9ADC47EC05A}">
      <dsp:nvSpPr>
        <dsp:cNvPr id="0" name=""/>
        <dsp:cNvSpPr/>
      </dsp:nvSpPr>
      <dsp:spPr>
        <a:xfrm>
          <a:off x="635005" y="2312380"/>
          <a:ext cx="593079" cy="59307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01085E00-4BEB-435B-B1DA-22FA8C5973A2}">
      <dsp:nvSpPr>
        <dsp:cNvPr id="0" name=""/>
        <dsp:cNvSpPr/>
      </dsp:nvSpPr>
      <dsp:spPr>
        <a:xfrm>
          <a:off x="753081" y="3083293"/>
          <a:ext cx="6941902" cy="4744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660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Validate models statistically.</a:t>
          </a:r>
        </a:p>
      </dsp:txBody>
      <dsp:txXfrm>
        <a:off x="753081" y="3083293"/>
        <a:ext cx="6941902" cy="474463"/>
      </dsp:txXfrm>
    </dsp:sp>
    <dsp:sp modelId="{A20E0EF0-D0C5-4582-9611-3191D3E5FA9C}">
      <dsp:nvSpPr>
        <dsp:cNvPr id="0" name=""/>
        <dsp:cNvSpPr/>
      </dsp:nvSpPr>
      <dsp:spPr>
        <a:xfrm>
          <a:off x="456541" y="3023985"/>
          <a:ext cx="593079" cy="59307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9F2CA3FB-D1BD-4B75-A396-2EDF5A0FB5E4}">
      <dsp:nvSpPr>
        <dsp:cNvPr id="0" name=""/>
        <dsp:cNvSpPr/>
      </dsp:nvSpPr>
      <dsp:spPr>
        <a:xfrm>
          <a:off x="362802" y="3794899"/>
          <a:ext cx="7332181" cy="47446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660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Compare empirical (power law) and mechanistic (LHHW) kinetic models</a:t>
          </a:r>
        </a:p>
      </dsp:txBody>
      <dsp:txXfrm>
        <a:off x="362802" y="3794899"/>
        <a:ext cx="7332181" cy="474463"/>
      </dsp:txXfrm>
    </dsp:sp>
    <dsp:sp modelId="{8D62662C-070C-4628-A8E1-5DE32A14C7B3}">
      <dsp:nvSpPr>
        <dsp:cNvPr id="0" name=""/>
        <dsp:cNvSpPr/>
      </dsp:nvSpPr>
      <dsp:spPr>
        <a:xfrm>
          <a:off x="66262" y="3735591"/>
          <a:ext cx="593079" cy="59307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l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8567B-3E3A-449A-B6FF-CCF1391557C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5DA22-1C77-4851-9748-2CE1645D41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895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5DA22-1C77-4851-9748-2CE1645D419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623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26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5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41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6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7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3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6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6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7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05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016236124002485" TargetMode="External"/><Relationship Id="rId2" Type="http://schemas.openxmlformats.org/officeDocument/2006/relationships/hyperlink" Target="https://www.sciencedirect.com/science/article/pii/S001623612203535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s.acs.org/doi/full/10.1021/%20acs.iecr.5b03828" TargetMode="External"/><Relationship Id="rId4" Type="http://schemas.openxmlformats.org/officeDocument/2006/relationships/hyperlink" Target="https://www.sciencedirect.com/science/article/pii/S221334371630373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8640" y="3773649"/>
            <a:ext cx="5826719" cy="16463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Mechanistic Kinetic Modeling of Furfural Hydrodeoxygenation to Produce 2-Methylfuran in a Fixed Bed Reactor</a:t>
            </a:r>
            <a:br>
              <a:rPr lang="en-US" dirty="0"/>
            </a:br>
            <a:r>
              <a:rPr lang="en-US" dirty="0"/>
              <a:t>						</a:t>
            </a:r>
            <a:br>
              <a:rPr lang="en-IN" sz="2000" dirty="0"/>
            </a:br>
            <a:r>
              <a:rPr lang="en-IN" sz="2000" dirty="0"/>
              <a:t>					    	</a:t>
            </a:r>
            <a:endParaRPr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8640" y="4123099"/>
            <a:ext cx="6400800" cy="2020833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Sayed Musaraf Ali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2022CHB1057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mondal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40BB4-BE3B-7D5F-A7C5-00E69A6BC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2" y="164937"/>
            <a:ext cx="1841614" cy="17377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96BD5B7-2ED5-E2C4-F4A4-A2EE3B882FF9}"/>
              </a:ext>
            </a:extLst>
          </p:cNvPr>
          <p:cNvSpPr txBox="1">
            <a:spLocks/>
          </p:cNvSpPr>
          <p:nvPr/>
        </p:nvSpPr>
        <p:spPr>
          <a:xfrm>
            <a:off x="1658639" y="1088599"/>
            <a:ext cx="5826719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dirty="0"/>
            </a:br>
            <a:r>
              <a:rPr lang="en-US" dirty="0"/>
              <a:t>						</a:t>
            </a:r>
            <a:r>
              <a:rPr lang="en-US" sz="2200" dirty="0"/>
              <a:t>- </a:t>
            </a:r>
            <a:r>
              <a:rPr lang="en-US" sz="3200" u="sng" dirty="0"/>
              <a:t>CP-303</a:t>
            </a:r>
            <a:br>
              <a:rPr lang="en-US" sz="2000" dirty="0"/>
            </a:br>
            <a:r>
              <a:rPr lang="en-US" sz="2000" dirty="0"/>
              <a:t>					    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989"/>
            <a:ext cx="6347713" cy="13208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6DC2E8-9800-D40E-2866-A064FC85D9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9828896"/>
              </p:ext>
            </p:extLst>
          </p:nvPr>
        </p:nvGraphicFramePr>
        <p:xfrm>
          <a:off x="609600" y="1451941"/>
          <a:ext cx="6993835" cy="3255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2DCEBCE-2E22-C9E7-0327-651FCF2868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707023"/>
            <a:ext cx="6325483" cy="15337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4E0BB2-01DE-61A8-9A16-3D1A5FB024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119847"/>
              </p:ext>
            </p:extLst>
          </p:nvPr>
        </p:nvGraphicFramePr>
        <p:xfrm>
          <a:off x="609598" y="1737361"/>
          <a:ext cx="7757162" cy="4506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C39AB-5838-6648-CD46-57A25218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8516-2933-2156-1064-F019D3FA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Kinetic Models Considered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47F143-5B3E-F966-204E-B3CD404652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599" y="1917727"/>
                <a:ext cx="6611472" cy="4284034"/>
              </a:xfrm>
            </p:spPr>
            <p:txBody>
              <a:bodyPr>
                <a:normAutofit fontScale="85000" lnSpcReduction="10000"/>
              </a:bodyPr>
              <a:lstStyle/>
              <a:p>
                <a:pPr marL="457200" lvl="1" indent="0">
                  <a:buNone/>
                </a:pPr>
                <a:r>
                  <a:rPr lang="en-IN" dirty="0"/>
                  <a:t>Overall FFR reaction:	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𝐹𝐹𝑅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𝐹𝐴𝐿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IN" dirty="0"/>
                  <a:t>Overall FAL reaction: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FAL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Power Law Models 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in excess)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Arrhenius: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Reference is taken at 230 K.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Total kinetic parameters estimated: 6 (2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, 2 </a:t>
                </a:r>
                <a:r>
                  <a:rPr lang="en-US" dirty="0" err="1"/>
                  <a:t>Ea</a:t>
                </a:r>
                <a:r>
                  <a:rPr lang="en-US" dirty="0"/>
                  <a:t>, 2 reaction orders).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This formulation enables parameter estimation by combining Partial pressure dependence and temperature dependence.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47F143-5B3E-F966-204E-B3CD404652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9" y="1917727"/>
                <a:ext cx="6611472" cy="4284034"/>
              </a:xfrm>
              <a:blipFill>
                <a:blip r:embed="rId2"/>
                <a:stretch>
                  <a:fillRect l="-1751" t="-12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80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B973-8071-B252-96FB-C4D1331AA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Estimation of Kinetic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E1663-D419-15E4-45B6-D588A5114D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598" y="2160590"/>
                <a:ext cx="6936189" cy="388077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IN" dirty="0"/>
                  <a:t>Power-law rate expression: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ur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ur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ur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ur-IN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ur-IN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ur-I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  <m:r>
                        <a:rPr lang="ur-IN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ur-IN" b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dirty="0"/>
                  <a:t> Used MATLAB </a:t>
                </a:r>
                <a:r>
                  <a:rPr lang="en-IN" dirty="0" err="1"/>
                  <a:t>lsqcurvefit</a:t>
                </a:r>
                <a:r>
                  <a:rPr lang="en-IN" dirty="0"/>
                  <a:t> for regression fitting.</a:t>
                </a:r>
              </a:p>
              <a:p>
                <a:pPr lvl="1"/>
                <a:r>
                  <a:rPr lang="en-US" dirty="0"/>
                  <a:t>Multiple Linear Regression (per Temperature)</a:t>
                </a:r>
              </a:p>
              <a:p>
                <a:pPr lvl="1"/>
                <a:r>
                  <a:rPr lang="en-US" dirty="0"/>
                  <a:t>Fits the power law form at each temperature separately:</a:t>
                </a:r>
              </a:p>
              <a:p>
                <a:pPr marL="0" indent="0" algn="ctr">
                  <a:buNone/>
                </a:pPr>
                <a:r>
                  <a:rPr lang="en-IN" dirty="0"/>
                  <a:t>		</a:t>
                </a:r>
                <a:r>
                  <a:rPr lang="en-IN" i="1" dirty="0"/>
                  <a:t>ln(r​) = ln(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IN" i="1" dirty="0"/>
                  <a:t>) + </a:t>
                </a:r>
                <a:r>
                  <a:rPr lang="en-IN" i="1" dirty="0" err="1"/>
                  <a:t>n.ln</a:t>
                </a:r>
                <a:r>
                  <a:rPr lang="en-IN" i="1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𝐹𝐹𝑅</m:t>
                        </m:r>
                      </m:sub>
                      <m:sup/>
                    </m:sSubSup>
                  </m:oMath>
                </a14:m>
                <a:r>
                  <a:rPr lang="en-IN" i="1" dirty="0"/>
                  <a:t>)</a:t>
                </a:r>
              </a:p>
              <a:p>
                <a:pPr lvl="1"/>
                <a:r>
                  <a:rPr lang="en-IN" dirty="0"/>
                  <a:t>Requires a second step (Arrhenius fit) to get activation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r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r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ur-I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ur-IN" dirty="0"/>
                  <a:t>.</a:t>
                </a:r>
                <a:endParaRPr lang="en-US" dirty="0"/>
              </a:p>
              <a:p>
                <a:pPr lvl="1"/>
                <a:endParaRPr lang="en-I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dirty="0"/>
                  <a:t>The objective function is:</a:t>
                </a:r>
              </a:p>
              <a:p>
                <a:pPr marL="0" indent="0" algn="ctr">
                  <a:buNone/>
                </a:pPr>
                <a:r>
                  <a:rPr lang="en-IN" b="0" dirty="0"/>
                  <a:t>Minimize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ur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ur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ur-I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ur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ur-I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ur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ur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ur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𝑒𝑥𝑝</m:t>
                                    </m:r>
                                    <m:r>
                                      <a:rPr lang="ur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ur-I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ur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𝑚𝑜𝑑𝑒𝑙</m:t>
                                    </m:r>
                                    <m:r>
                                      <a:rPr lang="ur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ur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IN" b="1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dirty="0"/>
                  <a:t>Validate models (R², residuals, confidence intervals).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dirty="0"/>
                  <a:t>Correlation of Parameters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E1663-D419-15E4-45B6-D588A5114D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8" y="2160590"/>
                <a:ext cx="6936189" cy="3880773"/>
              </a:xfrm>
              <a:blipFill>
                <a:blip r:embed="rId2"/>
                <a:stretch>
                  <a:fillRect l="-1406" t="-1570" b="-92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379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024E-771E-E925-7938-E1B42E0A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C00E4-FC68-1C6E-6DBE-DADB87527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868128"/>
            <a:ext cx="3749040" cy="54549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Raw experimental data provided:</a:t>
            </a:r>
          </a:p>
          <a:p>
            <a:pPr lvl="1"/>
            <a:r>
              <a:rPr lang="en-IN" dirty="0"/>
              <a:t>Volumetric flow rate (mL/min)</a:t>
            </a:r>
          </a:p>
          <a:p>
            <a:pPr lvl="1"/>
            <a:r>
              <a:rPr lang="en-IN" dirty="0"/>
              <a:t>Temperature (°C)</a:t>
            </a:r>
          </a:p>
          <a:p>
            <a:pPr lvl="1"/>
            <a:r>
              <a:rPr lang="en-IN" dirty="0"/>
              <a:t>Conversion of Furfural (FFR)</a:t>
            </a:r>
          </a:p>
          <a:p>
            <a:pPr lvl="1"/>
            <a:r>
              <a:rPr lang="en-IN" dirty="0"/>
              <a:t>Yield of Furfuryl Alcohol (FAL)</a:t>
            </a:r>
          </a:p>
          <a:p>
            <a:pPr lvl="1"/>
            <a:r>
              <a:rPr lang="en-IN" dirty="0"/>
              <a:t>Yield of 2-Methylfuran (2-MF)</a:t>
            </a:r>
          </a:p>
          <a:p>
            <a:pPr lvl="1"/>
            <a:r>
              <a:rPr lang="en-IN" dirty="0"/>
              <a:t>Catalyst weight (W)</a:t>
            </a:r>
          </a:p>
          <a:p>
            <a:pPr lvl="1"/>
            <a:r>
              <a:rPr lang="en-IN" dirty="0"/>
              <a:t>5% FFR in IPA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FA476F1-0E98-F838-38DE-8513DC2497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0256" y="1868128"/>
                <a:ext cx="3836504" cy="43950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dirty="0"/>
                  <a:t>Calculation of Molar Flow Rate (mol/h)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𝐹𝐹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ur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ur-IN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𝐹𝐹𝑅</m:t>
                              </m:r>
                            </m:e>
                          </m:d>
                          <m:r>
                            <a:rPr lang="ur-IN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̇"/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ur-IN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𝑀𝑊</m:t>
                          </m:r>
                        </m:den>
                      </m:f>
                      <m:r>
                        <a:rPr lang="ur-IN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ur-IN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ur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ur-IN" sz="1400" i="1">
                              <a:latin typeface="Cambria Math" panose="02040503050406030204" pitchFamily="18" charset="0"/>
                            </a:rPr>
                            <m:t>𝐹𝐹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ur-IN" sz="1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ur-I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ur-I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e>
                          </m:d>
                          <m:r>
                            <a:rPr lang="ur-IN" sz="1400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̇"/>
                              <m:ctrlPr>
                                <a:rPr lang="ur-I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acc>
                          <m:r>
                            <a:rPr lang="ur-IN" sz="14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96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08</m:t>
                          </m:r>
                        </m:den>
                      </m:f>
                      <m:r>
                        <a:rPr lang="ur-IN" sz="14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ur-IN" sz="140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sz="1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1400" dirty="0"/>
                        <m:t>0</m:t>
                      </m:r>
                      <m:r>
                        <m:rPr>
                          <m:nor/>
                        </m:rPr>
                        <a:rPr lang="en-IN" sz="1400" dirty="0"/>
                        <m:t>.</m:t>
                      </m:r>
                      <m:r>
                        <m:rPr>
                          <m:nor/>
                        </m:rPr>
                        <a:rPr lang="en-IN" sz="1400" dirty="0"/>
                        <m:t>005433</m:t>
                      </m:r>
                    </m:oMath>
                  </m:oMathPara>
                </a14:m>
                <a:endParaRPr lang="en-IN" sz="1600" dirty="0"/>
              </a:p>
              <a:p>
                <a:r>
                  <a:rPr lang="en-IN" dirty="0"/>
                  <a:t>Rate of reaction of FFR </a:t>
                </a:r>
                <a:r>
                  <a:rPr lang="en-IN" b="1" dirty="0"/>
                  <a:t>(</a:t>
                </a:r>
                <a:r>
                  <a:rPr lang="en-IN" dirty="0"/>
                  <a:t>mol·h⁻¹·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ur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ur-IN" i="1">
                            <a:latin typeface="Cambria Math" panose="02040503050406030204" pitchFamily="18" charset="0"/>
                          </a:rPr>
                          <m:t>𝑐𝑎𝑡</m:t>
                        </m:r>
                      </m:sub>
                      <m:sup>
                        <m:r>
                          <a:rPr lang="ur-I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ur-I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IN" b="1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</m:sSub>
                      <m:r>
                        <a:rPr lang="ur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𝐹𝐹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r-I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nor/>
                            </m:rPr>
                            <a:rPr lang="ur-IN" i="1"/>
                            <m:t> </m:t>
                          </m:r>
                          <m:sSub>
                            <m:sSub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𝐹𝐹𝑅</m:t>
                              </m:r>
                            </m:sub>
                          </m:sSub>
                        </m:num>
                        <m:den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ur-IN" sz="1600" i="1">
                              <a:latin typeface="Cambria Math" panose="02040503050406030204" pitchFamily="18" charset="0"/>
                            </a:rPr>
                            <m:t>𝐹𝐹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ur-IN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ur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005433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9518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005171</m:t>
                      </m:r>
                    </m:oMath>
                  </m:oMathPara>
                </a14:m>
                <a:endParaRPr lang="ur-IN" sz="1600" b="0" dirty="0"/>
              </a:p>
              <a:p>
                <a:r>
                  <a:rPr lang="en-IN" dirty="0"/>
                  <a:t>Partial Pressure Calculation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</m:sSub>
                      <m:r>
                        <a:rPr lang="ur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</m:sSub>
                      <m:r>
                        <m:rPr>
                          <m:nor/>
                        </m:rPr>
                        <a:rPr lang="ur-IN" i="1"/>
                        <m:t> </m:t>
                      </m:r>
                      <m:sSub>
                        <m:sSub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</m:oMath>
                  </m:oMathPara>
                </a14:m>
                <a:endParaRPr lang="ur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</m:sSub>
                      <m:r>
                        <a:rPr lang="ur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𝐹𝐹𝑅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  <m:r>
                        <a:rPr lang="ur-IN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ur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IN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ur-IN" i="1"/>
                        <m:t> </m:t>
                      </m:r>
                      <m:r>
                        <m:rPr>
                          <m:nor/>
                        </m:rPr>
                        <a:rPr lang="en-IN" i="1"/>
                        <m:t>bar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I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IN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ur-IN" sz="1500" i="1">
                              <a:latin typeface="Cambria Math" panose="02040503050406030204" pitchFamily="18" charset="0"/>
                            </a:rPr>
                            <m:t>𝐹𝐹</m:t>
                          </m:r>
                          <m:sSub>
                            <m:sSub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sz="15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ur-IN" sz="15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005433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9518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15467</m:t>
                          </m:r>
                        </m:den>
                      </m:f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00169</m:t>
                      </m:r>
                    </m:oMath>
                  </m:oMathPara>
                </a14:m>
                <a:endParaRPr lang="en-IN" sz="15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FA476F1-0E98-F838-38DE-8513DC249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256" y="1868128"/>
                <a:ext cx="3836504" cy="4395095"/>
              </a:xfrm>
              <a:prstGeom prst="rect">
                <a:avLst/>
              </a:prstGeom>
              <a:blipFill>
                <a:blip r:embed="rId2"/>
                <a:stretch>
                  <a:fillRect l="-159" t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60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F5C6-4415-0525-69C3-047BA9CD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788BE-02C1-CB64-C552-8E05835B9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737361"/>
            <a:ext cx="6347714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FFR to FAL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FAL to 2MF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FCDCDAB-76BE-24B8-E442-75A70A42C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70135"/>
              </p:ext>
            </p:extLst>
          </p:nvPr>
        </p:nvGraphicFramePr>
        <p:xfrm>
          <a:off x="1678116" y="2204639"/>
          <a:ext cx="5983920" cy="1766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510">
                  <a:extLst>
                    <a:ext uri="{9D8B030D-6E8A-4147-A177-3AD203B41FA5}">
                      <a16:colId xmlns:a16="http://schemas.microsoft.com/office/drawing/2014/main" val="3833877545"/>
                    </a:ext>
                  </a:extLst>
                </a:gridCol>
                <a:gridCol w="1248450">
                  <a:extLst>
                    <a:ext uri="{9D8B030D-6E8A-4147-A177-3AD203B41FA5}">
                      <a16:colId xmlns:a16="http://schemas.microsoft.com/office/drawing/2014/main" val="1444257723"/>
                    </a:ext>
                  </a:extLst>
                </a:gridCol>
                <a:gridCol w="1495980">
                  <a:extLst>
                    <a:ext uri="{9D8B030D-6E8A-4147-A177-3AD203B41FA5}">
                      <a16:colId xmlns:a16="http://schemas.microsoft.com/office/drawing/2014/main" val="177420503"/>
                    </a:ext>
                  </a:extLst>
                </a:gridCol>
                <a:gridCol w="1495980">
                  <a:extLst>
                    <a:ext uri="{9D8B030D-6E8A-4147-A177-3AD203B41FA5}">
                      <a16:colId xmlns:a16="http://schemas.microsoft.com/office/drawing/2014/main" val="3488101900"/>
                    </a:ext>
                  </a:extLst>
                </a:gridCol>
              </a:tblGrid>
              <a:tr h="53107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Parameters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Value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-95% CI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+95% CI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09493"/>
                  </a:ext>
                </a:extLst>
              </a:tr>
              <a:tr h="3131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k_ref (mol/h.g.bar^n)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/>
                        <a:t>0.087094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/>
                        <a:t>0.08328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0.09091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95326864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(KJ/mol)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/>
                        <a:t>42.80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46.52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9783766"/>
                  </a:ext>
                </a:extLst>
              </a:tr>
              <a:tr h="363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(FFR order)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/>
                        <a:t>0.364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64309893"/>
                  </a:ext>
                </a:extLst>
              </a:tr>
              <a:tr h="2339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/>
                        <a:t>0.002304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4854255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97BD53-C8B1-5AAD-6147-476A4850D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176665"/>
              </p:ext>
            </p:extLst>
          </p:nvPr>
        </p:nvGraphicFramePr>
        <p:xfrm>
          <a:off x="1678116" y="4455283"/>
          <a:ext cx="5983920" cy="1760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3007">
                  <a:extLst>
                    <a:ext uri="{9D8B030D-6E8A-4147-A177-3AD203B41FA5}">
                      <a16:colId xmlns:a16="http://schemas.microsoft.com/office/drawing/2014/main" val="2078518794"/>
                    </a:ext>
                  </a:extLst>
                </a:gridCol>
                <a:gridCol w="1209367">
                  <a:extLst>
                    <a:ext uri="{9D8B030D-6E8A-4147-A177-3AD203B41FA5}">
                      <a16:colId xmlns:a16="http://schemas.microsoft.com/office/drawing/2014/main" val="508483757"/>
                    </a:ext>
                  </a:extLst>
                </a:gridCol>
                <a:gridCol w="1504336">
                  <a:extLst>
                    <a:ext uri="{9D8B030D-6E8A-4147-A177-3AD203B41FA5}">
                      <a16:colId xmlns:a16="http://schemas.microsoft.com/office/drawing/2014/main" val="4211649858"/>
                    </a:ext>
                  </a:extLst>
                </a:gridCol>
                <a:gridCol w="1497210">
                  <a:extLst>
                    <a:ext uri="{9D8B030D-6E8A-4147-A177-3AD203B41FA5}">
                      <a16:colId xmlns:a16="http://schemas.microsoft.com/office/drawing/2014/main" val="559661661"/>
                    </a:ext>
                  </a:extLst>
                </a:gridCol>
              </a:tblGrid>
              <a:tr h="3520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Parameter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Value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-95% CI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+95% CI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2700973"/>
                  </a:ext>
                </a:extLst>
              </a:tr>
              <a:tr h="3520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 err="1">
                          <a:effectLst/>
                        </a:rPr>
                        <a:t>k_ref</a:t>
                      </a:r>
                      <a:r>
                        <a:rPr lang="en-IN" sz="1400" u="none" strike="noStrike" dirty="0">
                          <a:effectLst/>
                        </a:rPr>
                        <a:t> (mol/</a:t>
                      </a:r>
                      <a:r>
                        <a:rPr lang="en-IN" sz="1400" u="none" strike="noStrike" dirty="0" err="1">
                          <a:effectLst/>
                        </a:rPr>
                        <a:t>h.g.bar^m</a:t>
                      </a:r>
                      <a:r>
                        <a:rPr lang="en-IN" sz="1400" u="none" strike="noStrike" dirty="0">
                          <a:effectLst/>
                        </a:rPr>
                        <a:t>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/>
                        <a:t>0.135041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0.09722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.17286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5790893"/>
                  </a:ext>
                </a:extLst>
              </a:tr>
              <a:tr h="3520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 err="1">
                          <a:effectLst/>
                        </a:rPr>
                        <a:t>Ea</a:t>
                      </a:r>
                      <a:r>
                        <a:rPr lang="en-IN" sz="1400" u="none" strike="noStrike" dirty="0">
                          <a:effectLst/>
                        </a:rPr>
                        <a:t> (KJ/mol)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/>
                        <a:t>38.11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/>
                        <a:t>108.41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6554532"/>
                  </a:ext>
                </a:extLst>
              </a:tr>
              <a:tr h="3520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m (FAL order)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dirty="0"/>
                        <a:t>0.533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NR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NR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92245231"/>
                  </a:ext>
                </a:extLst>
              </a:tr>
              <a:tr h="3520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RMSE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0.001437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5891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743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2E33-3EC5-220E-BB1F-EA271A41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Arrhenius Analysis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67E522-BD31-6B82-FD91-0F8697CF6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3"/>
                <a:ext cx="3775591" cy="4412997"/>
              </a:xfrm>
            </p:spPr>
            <p:txBody>
              <a:bodyPr>
                <a:normAutofit/>
              </a:bodyPr>
              <a:lstStyle/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Slope = -E/R = -5148.358055</a:t>
                </a:r>
              </a:p>
              <a:p>
                <a:r>
                  <a:rPr lang="en-IN" dirty="0"/>
                  <a:t>Intercept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/>
                  <a:t>= -2.440768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67E522-BD31-6B82-FD91-0F8697CF6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3"/>
                <a:ext cx="3775591" cy="4412997"/>
              </a:xfrm>
              <a:blipFill>
                <a:blip r:embed="rId2"/>
                <a:stretch>
                  <a:fillRect l="-16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7AEAEA-6FB9-A85A-2E6F-0FEF710FF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" y="1737361"/>
            <a:ext cx="4598550" cy="3070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9EE9D7-E428-8FF5-A793-A0F99E506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550" y="1737361"/>
            <a:ext cx="4545450" cy="30706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EC40CA5-AD6F-B7B2-016E-4617923C8D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44269" y="1845732"/>
                <a:ext cx="3775591" cy="441299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Slope = -E/R = -8811.724</a:t>
                </a:r>
              </a:p>
              <a:p>
                <a:r>
                  <a:rPr lang="en-IN" dirty="0"/>
                  <a:t>Intercept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/>
                  <a:t>= -1.819507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EC40CA5-AD6F-B7B2-016E-4617923C8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269" y="1845732"/>
                <a:ext cx="3775591" cy="4412997"/>
              </a:xfrm>
              <a:prstGeom prst="rect">
                <a:avLst/>
              </a:prstGeom>
              <a:blipFill>
                <a:blip r:embed="rId5"/>
                <a:stretch>
                  <a:fillRect l="-1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352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FDED7-C11D-13E1-B61F-4462A77E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0BA6-4697-E21B-DC7F-2E9099AD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Matrix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333BF-971E-16E5-9331-9A888613F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7" y="1360083"/>
            <a:ext cx="6347714" cy="388215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1600" dirty="0"/>
              <a:t>FFR to FAL</a:t>
            </a:r>
          </a:p>
          <a:p>
            <a:endParaRPr lang="en-US" sz="1600" dirty="0"/>
          </a:p>
          <a:p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FAL to 2-MF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8A90F3-84B0-FC6A-37E4-BDB1D1B02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393294"/>
              </p:ext>
            </p:extLst>
          </p:nvPr>
        </p:nvGraphicFramePr>
        <p:xfrm>
          <a:off x="655809" y="2169012"/>
          <a:ext cx="6096000" cy="1132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35013403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792184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9180395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96269311"/>
                    </a:ext>
                  </a:extLst>
                </a:gridCol>
              </a:tblGrid>
              <a:tr h="2806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Params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k_ref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87278902"/>
                  </a:ext>
                </a:extLst>
              </a:tr>
              <a:tr h="2834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k_ref</a:t>
                      </a:r>
                      <a:endParaRPr lang="en-IN" sz="1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0.0747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2529857"/>
                  </a:ext>
                </a:extLst>
              </a:tr>
              <a:tr h="2834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Ea</a:t>
                      </a:r>
                      <a:r>
                        <a:rPr lang="en-IN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0.0747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0.5009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780214"/>
                  </a:ext>
                </a:extLst>
              </a:tr>
              <a:tr h="2834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883095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4570F2-BC17-2E35-2ABA-C5453A5A9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19865"/>
              </p:ext>
            </p:extLst>
          </p:nvPr>
        </p:nvGraphicFramePr>
        <p:xfrm>
          <a:off x="139611" y="4858331"/>
          <a:ext cx="5989982" cy="1552795"/>
        </p:xfrm>
        <a:graphic>
          <a:graphicData uri="http://schemas.openxmlformats.org/drawingml/2006/table">
            <a:tbl>
              <a:tblPr/>
              <a:tblGrid>
                <a:gridCol w="1990466">
                  <a:extLst>
                    <a:ext uri="{9D8B030D-6E8A-4147-A177-3AD203B41FA5}">
                      <a16:colId xmlns:a16="http://schemas.microsoft.com/office/drawing/2014/main" val="3782411982"/>
                    </a:ext>
                  </a:extLst>
                </a:gridCol>
                <a:gridCol w="1999758">
                  <a:extLst>
                    <a:ext uri="{9D8B030D-6E8A-4147-A177-3AD203B41FA5}">
                      <a16:colId xmlns:a16="http://schemas.microsoft.com/office/drawing/2014/main" val="1189222682"/>
                    </a:ext>
                  </a:extLst>
                </a:gridCol>
                <a:gridCol w="1999758">
                  <a:extLst>
                    <a:ext uri="{9D8B030D-6E8A-4147-A177-3AD203B41FA5}">
                      <a16:colId xmlns:a16="http://schemas.microsoft.com/office/drawing/2014/main" val="1771755768"/>
                    </a:ext>
                  </a:extLst>
                </a:gridCol>
              </a:tblGrid>
              <a:tr h="34669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/>
                        <a:t>Correlation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/>
                        <a:t>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531546"/>
                  </a:ext>
                </a:extLst>
              </a:tr>
              <a:tr h="346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&lt; 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851226"/>
                  </a:ext>
                </a:extLst>
              </a:tr>
              <a:tr h="346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0.3–0.7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47901"/>
                  </a:ext>
                </a:extLst>
              </a:tr>
              <a:tr h="4555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&gt; 0.8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Strong (problematic)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2560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ACFB39-A1BA-25B8-83EF-01131DC02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391064"/>
              </p:ext>
            </p:extLst>
          </p:nvPr>
        </p:nvGraphicFramePr>
        <p:xfrm>
          <a:off x="655809" y="3726183"/>
          <a:ext cx="6263152" cy="1132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6785">
                  <a:extLst>
                    <a:ext uri="{9D8B030D-6E8A-4147-A177-3AD203B41FA5}">
                      <a16:colId xmlns:a16="http://schemas.microsoft.com/office/drawing/2014/main" val="2105495507"/>
                    </a:ext>
                  </a:extLst>
                </a:gridCol>
                <a:gridCol w="1533832">
                  <a:extLst>
                    <a:ext uri="{9D8B030D-6E8A-4147-A177-3AD203B41FA5}">
                      <a16:colId xmlns:a16="http://schemas.microsoft.com/office/drawing/2014/main" val="3210372633"/>
                    </a:ext>
                  </a:extLst>
                </a:gridCol>
                <a:gridCol w="1514168">
                  <a:extLst>
                    <a:ext uri="{9D8B030D-6E8A-4147-A177-3AD203B41FA5}">
                      <a16:colId xmlns:a16="http://schemas.microsoft.com/office/drawing/2014/main" val="1875945807"/>
                    </a:ext>
                  </a:extLst>
                </a:gridCol>
                <a:gridCol w="1678367">
                  <a:extLst>
                    <a:ext uri="{9D8B030D-6E8A-4147-A177-3AD203B41FA5}">
                      <a16:colId xmlns:a16="http://schemas.microsoft.com/office/drawing/2014/main" val="1257529543"/>
                    </a:ext>
                  </a:extLst>
                </a:gridCol>
              </a:tblGrid>
              <a:tr h="2830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Params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k_ref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Ea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46200571"/>
                  </a:ext>
                </a:extLst>
              </a:tr>
              <a:tr h="2830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k_ref2</a:t>
                      </a:r>
                      <a:endParaRPr lang="en-IN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0.1666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3309240"/>
                  </a:ext>
                </a:extLst>
              </a:tr>
              <a:tr h="2830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Ea</a:t>
                      </a:r>
                      <a:r>
                        <a:rPr lang="en-IN" sz="1100" u="none" strike="noStrike" dirty="0">
                          <a:effectLst/>
                        </a:rPr>
                        <a:t> </a:t>
                      </a:r>
                      <a:endParaRPr lang="en-IN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0.1666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0.2557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82930876"/>
                  </a:ext>
                </a:extLst>
              </a:tr>
              <a:tr h="2830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m</a:t>
                      </a:r>
                      <a:endParaRPr lang="en-IN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0.994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0.2557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430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7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1F853-DB16-100C-2D25-AFBD1795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1206620"/>
            <a:ext cx="6347713" cy="960347"/>
          </a:xfrm>
        </p:spPr>
        <p:txBody>
          <a:bodyPr>
            <a:normAutofit fontScale="90000"/>
          </a:bodyPr>
          <a:lstStyle/>
          <a:p>
            <a:r>
              <a:rPr lang="en-US" dirty="0"/>
              <a:t>Parity Plot -FFR to FAL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EBC21-6AFD-A390-0066-28FB44BC8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B402EE-34F9-6BAE-5927-235C6D926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774116"/>
            <a:ext cx="7568710" cy="474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94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90C32-B1F4-7BF3-FA0B-8B3DC921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2EA6-46AC-C1CD-3830-857AA31E3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380386"/>
            <a:ext cx="6347713" cy="960347"/>
          </a:xfrm>
        </p:spPr>
        <p:txBody>
          <a:bodyPr>
            <a:normAutofit fontScale="90000"/>
          </a:bodyPr>
          <a:lstStyle/>
          <a:p>
            <a:r>
              <a:rPr lang="en-US" dirty="0"/>
              <a:t>Parity Plot - FAL to 2-MF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C9A8-59B8-5D6D-9636-42D22BBC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262E5-6E21-3881-604E-180EECB07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65" y="1767335"/>
            <a:ext cx="7422195" cy="481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74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4C77-6478-C215-3CA1-F97F5834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LHHW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4445C-1C14-DEA7-9AAF-85E00049C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32548"/>
            <a:ext cx="6347714" cy="44332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Why go beyond Power Law?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Power law models provide good statistical fit but limited mechanistic insight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Cannot explain:</a:t>
            </a:r>
          </a:p>
          <a:p>
            <a:pPr lvl="1"/>
            <a:r>
              <a:rPr lang="en-US" dirty="0"/>
              <a:t>Competitive adsorption</a:t>
            </a:r>
          </a:p>
          <a:p>
            <a:pPr lvl="1"/>
            <a:r>
              <a:rPr lang="en-US" dirty="0"/>
              <a:t>Surface reaction mechanism</a:t>
            </a:r>
          </a:p>
          <a:p>
            <a:pPr lvl="1"/>
            <a:r>
              <a:rPr lang="en-US" dirty="0"/>
              <a:t>Product inhibition</a:t>
            </a:r>
          </a:p>
          <a:p>
            <a:pPr lvl="1"/>
            <a:r>
              <a:rPr lang="en-US" dirty="0"/>
              <a:t>Effect of site coverage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LHHW provides a mechanistic, surface-kinetics-based framework.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Used when:</a:t>
            </a:r>
          </a:p>
          <a:p>
            <a:pPr lvl="1"/>
            <a:r>
              <a:rPr lang="en-US" dirty="0"/>
              <a:t>Rate-controlling step is surface reaction</a:t>
            </a:r>
          </a:p>
          <a:p>
            <a:pPr lvl="1"/>
            <a:r>
              <a:rPr lang="en-US" dirty="0"/>
              <a:t>Reactants adsorb on active sites</a:t>
            </a:r>
          </a:p>
          <a:p>
            <a:pPr lvl="1"/>
            <a:r>
              <a:rPr lang="en-US" dirty="0"/>
              <a:t>Surface coverage influences 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818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8470-85A0-3B7F-B628-B621A3E6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35" y="371853"/>
            <a:ext cx="6347713" cy="1320800"/>
          </a:xfrm>
        </p:spPr>
        <p:txBody>
          <a:bodyPr/>
          <a:lstStyle/>
          <a:p>
            <a:r>
              <a:rPr lang="en-IN" dirty="0"/>
              <a:t>LHHW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68D9F-2DA0-6691-F6F5-1980220E4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34" y="1871702"/>
            <a:ext cx="6347714" cy="5318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Key Assumptions of LHHW :</a:t>
            </a:r>
          </a:p>
          <a:p>
            <a:pPr lvl="1"/>
            <a:r>
              <a:rPr lang="en-US" dirty="0"/>
              <a:t>All reactants, intermediates, and products adsorb on the same type of catalyst active site (for Single Site).</a:t>
            </a:r>
          </a:p>
          <a:p>
            <a:pPr lvl="1"/>
            <a:r>
              <a:rPr lang="en-US" dirty="0"/>
              <a:t>Hydrogen adsorb on the hydrogen active catalyst sites whereas others adsorb on the other organic catalyst active sites (for Dual Site).</a:t>
            </a:r>
          </a:p>
          <a:p>
            <a:pPr lvl="1"/>
            <a:r>
              <a:rPr lang="en-IN" dirty="0"/>
              <a:t>Molecular adsorption of Furfural, Furfuryl alcohol and 2-Methyl Furfuran.</a:t>
            </a:r>
          </a:p>
          <a:p>
            <a:pPr lvl="1"/>
            <a:r>
              <a:rPr lang="en-IN" dirty="0"/>
              <a:t>Hydrogen adsorbs </a:t>
            </a:r>
            <a:r>
              <a:rPr lang="en-IN" dirty="0" err="1"/>
              <a:t>dissociatively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Surface-reactions step are rate-controlling.</a:t>
            </a:r>
          </a:p>
          <a:p>
            <a:pPr lvl="1"/>
            <a:r>
              <a:rPr lang="en-IN" dirty="0"/>
              <a:t>Catalyst does not deactivate during experiments.</a:t>
            </a:r>
          </a:p>
          <a:p>
            <a:pPr lvl="1"/>
            <a:r>
              <a:rPr lang="en-IN" dirty="0"/>
              <a:t>Ideal-gas behaviour.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We have total of 2 Models (2 rate equations each)</a:t>
            </a:r>
          </a:p>
        </p:txBody>
      </p:sp>
    </p:spTree>
    <p:extLst>
      <p:ext uri="{BB962C8B-B14F-4D97-AF65-F5344CB8AC3E}">
        <p14:creationId xmlns:p14="http://schemas.microsoft.com/office/powerpoint/2010/main" val="249049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0A96-4D32-3021-DDA0-837C7670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Reactions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E132-159D-7941-60D2-5A030273A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Single Site RM</a:t>
            </a:r>
            <a:r>
              <a:rPr lang="en-US" dirty="0"/>
              <a:t>			          </a:t>
            </a:r>
            <a:r>
              <a:rPr lang="en-US" u="sng" dirty="0"/>
              <a:t>Dual Site RM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RDS are reaction 3 and reaction 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DC0B88-40B2-E6B0-2B3F-7C26A9F89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46767"/>
            <a:ext cx="7835289" cy="26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39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C3194-B121-0FD3-8C08-D71748DF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DF83-914E-32C6-0783-39899205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LHHW Model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06E87D-6EB5-1190-A7A3-3EA01F40B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8209"/>
            <a:ext cx="3749040" cy="13157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C2C204-9CDB-0783-48DD-457029968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13226"/>
            <a:ext cx="4003905" cy="14507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2E8D425-E7C6-E076-F582-B62A9EDCF6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6930" y="1839433"/>
                <a:ext cx="7618975" cy="4306186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62500" lnSpcReduction="2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dirty="0"/>
                  <a:t>	                       </a:t>
                </a:r>
                <a:r>
                  <a:rPr lang="en-IN" u="sng" dirty="0"/>
                  <a:t>LH-I RM</a:t>
                </a:r>
                <a:r>
                  <a:rPr lang="en-IN" dirty="0"/>
                  <a:t>	                                      		</a:t>
                </a:r>
                <a:r>
                  <a:rPr lang="en-IN" u="sng" dirty="0"/>
                  <a:t>LH-II RM</a:t>
                </a:r>
                <a:endParaRPr lang="en-IN" i="1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i="1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i="1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i="1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i="1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i="1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i="1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i="1" dirty="0"/>
                  <a:t>Arrhenius Equation: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i="1" dirty="0"/>
                  <a:t>Van’t Hoff Adsorption Equation: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𝑎𝑑𝑠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△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𝑎𝑑𝑠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△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𝑎𝑑𝑠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Total parameters estimated: 9 per model (2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, 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5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△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𝑎𝑑𝑠</m:t>
                        </m:r>
                      </m:sup>
                    </m:sSubSup>
                  </m:oMath>
                </a14:m>
                <a:r>
                  <a:rPr lang="en-US" dirty="0"/>
                  <a:t>).</a:t>
                </a:r>
                <a:endParaRPr lang="en-IN" dirty="0"/>
              </a:p>
              <a:p>
                <a:pPr marL="201168" lvl="1" indent="0">
                  <a:buNone/>
                </a:pPr>
                <a:r>
                  <a:rPr lang="en-IN" dirty="0"/>
                  <a:t>	</a:t>
                </a:r>
              </a:p>
              <a:p>
                <a:pPr marL="201168" lvl="1" indent="0">
                  <a:buNone/>
                </a:pPr>
                <a:endParaRPr lang="en-IN" u="sng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2E8D425-E7C6-E076-F582-B62A9EDCF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30" y="1839433"/>
                <a:ext cx="7618975" cy="4306186"/>
              </a:xfrm>
              <a:prstGeom prst="rect">
                <a:avLst/>
              </a:prstGeom>
              <a:blipFill>
                <a:blip r:embed="rId4"/>
                <a:stretch>
                  <a:fillRect l="-1280" t="-12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613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843E9-DD38-0EB4-B1D8-5750B713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B130-0B59-84F5-E737-01A202F8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KINETICS RESULT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0DC38B-64E0-95B4-BB37-17E33F8F1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593024"/>
              </p:ext>
            </p:extLst>
          </p:nvPr>
        </p:nvGraphicFramePr>
        <p:xfrm>
          <a:off x="822960" y="1874081"/>
          <a:ext cx="7486446" cy="39470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1840">
                  <a:extLst>
                    <a:ext uri="{9D8B030D-6E8A-4147-A177-3AD203B41FA5}">
                      <a16:colId xmlns:a16="http://schemas.microsoft.com/office/drawing/2014/main" val="371905725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70188591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4025574564"/>
                    </a:ext>
                  </a:extLst>
                </a:gridCol>
                <a:gridCol w="626400">
                  <a:extLst>
                    <a:ext uri="{9D8B030D-6E8A-4147-A177-3AD203B41FA5}">
                      <a16:colId xmlns:a16="http://schemas.microsoft.com/office/drawing/2014/main" val="302206763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978134513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val="81833478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90608498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3350619628"/>
                    </a:ext>
                  </a:extLst>
                </a:gridCol>
                <a:gridCol w="597600">
                  <a:extLst>
                    <a:ext uri="{9D8B030D-6E8A-4147-A177-3AD203B41FA5}">
                      <a16:colId xmlns:a16="http://schemas.microsoft.com/office/drawing/2014/main" val="3493280241"/>
                    </a:ext>
                  </a:extLst>
                </a:gridCol>
                <a:gridCol w="735006">
                  <a:extLst>
                    <a:ext uri="{9D8B030D-6E8A-4147-A177-3AD203B41FA5}">
                      <a16:colId xmlns:a16="http://schemas.microsoft.com/office/drawing/2014/main" val="1449542646"/>
                    </a:ext>
                  </a:extLst>
                </a:gridCol>
              </a:tblGrid>
              <a:tr h="6245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Reaction Mechanism and Model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Rate Constant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k_ref</a:t>
                      </a:r>
                      <a:r>
                        <a:rPr lang="en-IN" sz="1100" kern="100" dirty="0">
                          <a:effectLst/>
                        </a:rPr>
                        <a:t> (mol/h g-cat)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(-95%) CI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(+95%) CI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Ei (KJ mol)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-95% CI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+95% CI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RMSE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F-Test Statistics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extLst>
                  <a:ext uri="{0D108BD9-81ED-4DB2-BD59-A6C34878D82A}">
                    <a16:rowId xmlns:a16="http://schemas.microsoft.com/office/drawing/2014/main" val="2736241948"/>
                  </a:ext>
                </a:extLst>
              </a:tr>
              <a:tr h="8502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LH-I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kc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0.12215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0.04097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0.20333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34.31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15.42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53.20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0.003035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(F=123.09), (p=0.0000)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extLst>
                  <a:ext uri="{0D108BD9-81ED-4DB2-BD59-A6C34878D82A}">
                    <a16:rowId xmlns:a16="http://schemas.microsoft.com/office/drawing/2014/main" val="1263766365"/>
                  </a:ext>
                </a:extLst>
              </a:tr>
              <a:tr h="8502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Single Site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ke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71.02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26.39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115.65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37.02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12.84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61.20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0.000542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(F=123.09), (p=0.0000)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extLst>
                  <a:ext uri="{0D108BD9-81ED-4DB2-BD59-A6C34878D82A}">
                    <a16:rowId xmlns:a16="http://schemas.microsoft.com/office/drawing/2014/main" val="1342935840"/>
                  </a:ext>
                </a:extLst>
              </a:tr>
              <a:tr h="755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LH-II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kc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0.02253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0.02035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0.02471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37.73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29.88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45.58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0.003756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(F=74.08), (p=0.0000)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extLst>
                  <a:ext uri="{0D108BD9-81ED-4DB2-BD59-A6C34878D82A}">
                    <a16:rowId xmlns:a16="http://schemas.microsoft.com/office/drawing/2014/main" val="2491737265"/>
                  </a:ext>
                </a:extLst>
              </a:tr>
              <a:tr h="755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Dual-Site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ke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123.72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74.12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173.32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60.13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29.80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90.46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0.000583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(F=74.08), (p=0.0000)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25" marR="3525" marT="3525" marB="3525" anchor="ctr"/>
                </a:tc>
                <a:extLst>
                  <a:ext uri="{0D108BD9-81ED-4DB2-BD59-A6C34878D82A}">
                    <a16:rowId xmlns:a16="http://schemas.microsoft.com/office/drawing/2014/main" val="2031872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145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70E2-1282-A328-EEB9-D036E4E5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ARRHENIUS ANALYSIS LH-I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8F0D4-C541-F96F-395A-A50946D8A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63" y="1845734"/>
            <a:ext cx="4474596" cy="2954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06DC0F-B62E-1653-F28B-2A6248F0D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960" y="1845734"/>
            <a:ext cx="4445355" cy="295450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68CA727-9D33-080F-0059-369A1C911A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3"/>
                <a:ext cx="3775591" cy="4412997"/>
              </a:xfrm>
            </p:spPr>
            <p:txBody>
              <a:bodyPr>
                <a:normAutofit/>
              </a:bodyPr>
              <a:lstStyle/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Slope = -E/R = -4048.4</a:t>
                </a:r>
              </a:p>
              <a:p>
                <a:r>
                  <a:rPr lang="en-IN" dirty="0"/>
                  <a:t>Intercept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/>
                  <a:t>= -2.1035</a:t>
                </a:r>
              </a:p>
              <a:p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68CA727-9D33-080F-0059-369A1C911A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3"/>
                <a:ext cx="3775591" cy="4412997"/>
              </a:xfrm>
              <a:blipFill>
                <a:blip r:embed="rId4"/>
                <a:stretch>
                  <a:fillRect l="-16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A90BF8E-9D1C-D23B-64FD-FD9E2E5D24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43269" y="1845732"/>
                <a:ext cx="3775591" cy="441299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Slope = -E/R = -4436.7</a:t>
                </a:r>
              </a:p>
              <a:p>
                <a:r>
                  <a:rPr lang="en-IN" dirty="0"/>
                  <a:t>Intercept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/>
                  <a:t>= 4.2616</a:t>
                </a:r>
              </a:p>
              <a:p>
                <a:endParaRPr lang="en-IN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IN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A90BF8E-9D1C-D23B-64FD-FD9E2E5D2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269" y="1845732"/>
                <a:ext cx="3775591" cy="4412997"/>
              </a:xfrm>
              <a:prstGeom prst="rect">
                <a:avLst/>
              </a:prstGeom>
              <a:blipFill>
                <a:blip r:embed="rId5"/>
                <a:stretch>
                  <a:fillRect l="-1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551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37D60-7DAD-49EB-7733-B5FC6D0AF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E703-2DF8-A9EC-8DD4-B7B8897D5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ARRHENIUS ANALYSIS LH-II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4E0B1-A81B-23E7-785F-1D310C651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528FA-BE06-CA2C-1173-1746B6464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96" y="1845734"/>
            <a:ext cx="4414367" cy="292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A4A7FF-67F9-9456-4600-6218ED706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753" y="1845734"/>
            <a:ext cx="4420670" cy="292504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20B7C01-0916-84B4-9560-F5CAD6181B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959" y="1845733"/>
                <a:ext cx="3775591" cy="441299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Slope = -E/R = -4551.3536</a:t>
                </a:r>
              </a:p>
              <a:p>
                <a:r>
                  <a:rPr lang="en-IN" dirty="0"/>
                  <a:t>Intercept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/>
                  <a:t>= -3.79086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IN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20B7C01-0916-84B4-9560-F5CAD618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1845733"/>
                <a:ext cx="3775591" cy="4412997"/>
              </a:xfrm>
              <a:prstGeom prst="rect">
                <a:avLst/>
              </a:prstGeom>
              <a:blipFill>
                <a:blip r:embed="rId4"/>
                <a:stretch>
                  <a:fillRect l="-16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C7B1C16-9271-E235-1B92-7EA6E1845A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17753" y="1737361"/>
                <a:ext cx="3775591" cy="441299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Slope = -E/R = -7234.96573</a:t>
                </a:r>
              </a:p>
              <a:p>
                <a:r>
                  <a:rPr lang="en-IN" dirty="0"/>
                  <a:t>Intercept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/>
                  <a:t>= 4.81989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IN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C7B1C16-9271-E235-1B92-7EA6E1845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753" y="1737361"/>
                <a:ext cx="3775591" cy="4412997"/>
              </a:xfrm>
              <a:prstGeom prst="rect">
                <a:avLst/>
              </a:prstGeom>
              <a:blipFill>
                <a:blip r:embed="rId5"/>
                <a:stretch>
                  <a:fillRect l="-1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5624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213ED-E603-0599-D8C6-B8CF621B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58DE0-2E11-6CD6-BBC4-9183FFEF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RESULTS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80B1B-EF1B-71B8-B108-A3B547C16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960" y="1930399"/>
                <a:ext cx="6347714" cy="3880773"/>
              </a:xfrm>
            </p:spPr>
            <p:txBody>
              <a:bodyPr/>
              <a:lstStyle/>
              <a:p>
                <a:r>
                  <a:rPr lang="en-US" dirty="0"/>
                  <a:t>CHANGE IN ENTROPY OF ADSORPTION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△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𝑎𝑑𝑠</m:t>
                        </m:r>
                      </m:sup>
                    </m:sSubSup>
                  </m:oMath>
                </a14:m>
                <a:r>
                  <a:rPr lang="en-US" dirty="0"/>
                  <a:t>)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80B1B-EF1B-71B8-B108-A3B547C16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60" y="1930399"/>
                <a:ext cx="6347714" cy="3880773"/>
              </a:xfrm>
              <a:blipFill>
                <a:blip r:embed="rId2"/>
                <a:stretch>
                  <a:fillRect l="-961" t="-1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E089D52-BD45-EF4F-07FF-D23A255988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7454251"/>
                  </p:ext>
                </p:extLst>
              </p:nvPr>
            </p:nvGraphicFramePr>
            <p:xfrm>
              <a:off x="822960" y="1836918"/>
              <a:ext cx="7543800" cy="42192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2918">
                      <a:extLst>
                        <a:ext uri="{9D8B030D-6E8A-4147-A177-3AD203B41FA5}">
                          <a16:colId xmlns:a16="http://schemas.microsoft.com/office/drawing/2014/main" val="1890437339"/>
                        </a:ext>
                      </a:extLst>
                    </a:gridCol>
                    <a:gridCol w="1003852">
                      <a:extLst>
                        <a:ext uri="{9D8B030D-6E8A-4147-A177-3AD203B41FA5}">
                          <a16:colId xmlns:a16="http://schemas.microsoft.com/office/drawing/2014/main" val="4073351650"/>
                        </a:ext>
                      </a:extLst>
                    </a:gridCol>
                    <a:gridCol w="725557">
                      <a:extLst>
                        <a:ext uri="{9D8B030D-6E8A-4147-A177-3AD203B41FA5}">
                          <a16:colId xmlns:a16="http://schemas.microsoft.com/office/drawing/2014/main" val="3626553236"/>
                        </a:ext>
                      </a:extLst>
                    </a:gridCol>
                    <a:gridCol w="649264">
                      <a:extLst>
                        <a:ext uri="{9D8B030D-6E8A-4147-A177-3AD203B41FA5}">
                          <a16:colId xmlns:a16="http://schemas.microsoft.com/office/drawing/2014/main" val="1577668592"/>
                        </a:ext>
                      </a:extLst>
                    </a:gridCol>
                    <a:gridCol w="613006">
                      <a:extLst>
                        <a:ext uri="{9D8B030D-6E8A-4147-A177-3AD203B41FA5}">
                          <a16:colId xmlns:a16="http://schemas.microsoft.com/office/drawing/2014/main" val="1960936478"/>
                        </a:ext>
                      </a:extLst>
                    </a:gridCol>
                    <a:gridCol w="754369">
                      <a:extLst>
                        <a:ext uri="{9D8B030D-6E8A-4147-A177-3AD203B41FA5}">
                          <a16:colId xmlns:a16="http://schemas.microsoft.com/office/drawing/2014/main" val="3507107665"/>
                        </a:ext>
                      </a:extLst>
                    </a:gridCol>
                    <a:gridCol w="496320">
                      <a:extLst>
                        <a:ext uri="{9D8B030D-6E8A-4147-A177-3AD203B41FA5}">
                          <a16:colId xmlns:a16="http://schemas.microsoft.com/office/drawing/2014/main" val="2877657816"/>
                        </a:ext>
                      </a:extLst>
                    </a:gridCol>
                    <a:gridCol w="463765">
                      <a:extLst>
                        <a:ext uri="{9D8B030D-6E8A-4147-A177-3AD203B41FA5}">
                          <a16:colId xmlns:a16="http://schemas.microsoft.com/office/drawing/2014/main" val="3451754854"/>
                        </a:ext>
                      </a:extLst>
                    </a:gridCol>
                    <a:gridCol w="730572">
                      <a:extLst>
                        <a:ext uri="{9D8B030D-6E8A-4147-A177-3AD203B41FA5}">
                          <a16:colId xmlns:a16="http://schemas.microsoft.com/office/drawing/2014/main" val="2736569523"/>
                        </a:ext>
                      </a:extLst>
                    </a:gridCol>
                    <a:gridCol w="624177">
                      <a:extLst>
                        <a:ext uri="{9D8B030D-6E8A-4147-A177-3AD203B41FA5}">
                          <a16:colId xmlns:a16="http://schemas.microsoft.com/office/drawing/2014/main" val="492779666"/>
                        </a:ext>
                      </a:extLst>
                    </a:gridCol>
                  </a:tblGrid>
                  <a:tr h="44903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LH-I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 LH-II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3258395876"/>
                      </a:ext>
                    </a:extLst>
                  </a:tr>
                  <a:tr h="87409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Adsorption Constant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1100" kern="100">
                                  <a:effectLst/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IN" sz="11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1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N" sz="11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100" kern="100" dirty="0">
                              <a:effectLst/>
                            </a:rPr>
                            <a:t> (J/mol K)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(-95%) CI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(+95%) CI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t-Statistic / p-Value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1100" kern="100">
                                  <a:effectLst/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IN" sz="11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1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N" sz="11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100" kern="100">
                              <a:effectLst/>
                            </a:rPr>
                            <a:t> (J/mol K)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(-95%) CI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(+95%) CI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t-Statistic / p-Value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110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sSub>
                                <m:sSubPr>
                                  <m:ctrlPr>
                                    <a:rPr lang="en-IN" sz="11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1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sz="11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100" i="1" kern="100" dirty="0">
                              <a:effectLst/>
                            </a:rPr>
                            <a:t> (KJ/mol)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2631929182"/>
                      </a:ext>
                    </a:extLst>
                  </a:tr>
                  <a:tr h="44903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K_FFR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-96.03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NR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0.05520 /0.9561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-70.28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-79.22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-61.34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15.48/ 0.0000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-51.5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999246997"/>
                      </a:ext>
                    </a:extLst>
                  </a:tr>
                  <a:tr h="6762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K_H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-133.75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0.03700    / 0.9706)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-30.51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-36.35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-24.67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10.254/ 0.0000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-50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1253943692"/>
                      </a:ext>
                    </a:extLst>
                  </a:tr>
                  <a:tr h="44903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K_FAL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-31.81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0.015300 /0.9878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-32.53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-37.68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-27.38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-12.852/ 0.0000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-28.9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3316554277"/>
                      </a:ext>
                    </a:extLst>
                  </a:tr>
                  <a:tr h="5518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K_MF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-84.27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4.8892E-8/1.0000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-17.57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NR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-0.2821/ 0.7783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-15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3674553376"/>
                      </a:ext>
                    </a:extLst>
                  </a:tr>
                  <a:tr h="6762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K_H2O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-84.80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NR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-0.0480 /0.9618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-38.87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-80.71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2.97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-1.5349/ 0.1274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-52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22733545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E089D52-BD45-EF4F-07FF-D23A255988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7454251"/>
                  </p:ext>
                </p:extLst>
              </p:nvPr>
            </p:nvGraphicFramePr>
            <p:xfrm>
              <a:off x="822960" y="1836918"/>
              <a:ext cx="7543800" cy="42192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2918">
                      <a:extLst>
                        <a:ext uri="{9D8B030D-6E8A-4147-A177-3AD203B41FA5}">
                          <a16:colId xmlns:a16="http://schemas.microsoft.com/office/drawing/2014/main" val="1890437339"/>
                        </a:ext>
                      </a:extLst>
                    </a:gridCol>
                    <a:gridCol w="1003852">
                      <a:extLst>
                        <a:ext uri="{9D8B030D-6E8A-4147-A177-3AD203B41FA5}">
                          <a16:colId xmlns:a16="http://schemas.microsoft.com/office/drawing/2014/main" val="4073351650"/>
                        </a:ext>
                      </a:extLst>
                    </a:gridCol>
                    <a:gridCol w="725557">
                      <a:extLst>
                        <a:ext uri="{9D8B030D-6E8A-4147-A177-3AD203B41FA5}">
                          <a16:colId xmlns:a16="http://schemas.microsoft.com/office/drawing/2014/main" val="3626553236"/>
                        </a:ext>
                      </a:extLst>
                    </a:gridCol>
                    <a:gridCol w="649264">
                      <a:extLst>
                        <a:ext uri="{9D8B030D-6E8A-4147-A177-3AD203B41FA5}">
                          <a16:colId xmlns:a16="http://schemas.microsoft.com/office/drawing/2014/main" val="1577668592"/>
                        </a:ext>
                      </a:extLst>
                    </a:gridCol>
                    <a:gridCol w="613006">
                      <a:extLst>
                        <a:ext uri="{9D8B030D-6E8A-4147-A177-3AD203B41FA5}">
                          <a16:colId xmlns:a16="http://schemas.microsoft.com/office/drawing/2014/main" val="1960936478"/>
                        </a:ext>
                      </a:extLst>
                    </a:gridCol>
                    <a:gridCol w="754369">
                      <a:extLst>
                        <a:ext uri="{9D8B030D-6E8A-4147-A177-3AD203B41FA5}">
                          <a16:colId xmlns:a16="http://schemas.microsoft.com/office/drawing/2014/main" val="3507107665"/>
                        </a:ext>
                      </a:extLst>
                    </a:gridCol>
                    <a:gridCol w="496320">
                      <a:extLst>
                        <a:ext uri="{9D8B030D-6E8A-4147-A177-3AD203B41FA5}">
                          <a16:colId xmlns:a16="http://schemas.microsoft.com/office/drawing/2014/main" val="2877657816"/>
                        </a:ext>
                      </a:extLst>
                    </a:gridCol>
                    <a:gridCol w="463765">
                      <a:extLst>
                        <a:ext uri="{9D8B030D-6E8A-4147-A177-3AD203B41FA5}">
                          <a16:colId xmlns:a16="http://schemas.microsoft.com/office/drawing/2014/main" val="3451754854"/>
                        </a:ext>
                      </a:extLst>
                    </a:gridCol>
                    <a:gridCol w="730572">
                      <a:extLst>
                        <a:ext uri="{9D8B030D-6E8A-4147-A177-3AD203B41FA5}">
                          <a16:colId xmlns:a16="http://schemas.microsoft.com/office/drawing/2014/main" val="2736569523"/>
                        </a:ext>
                      </a:extLst>
                    </a:gridCol>
                    <a:gridCol w="624177">
                      <a:extLst>
                        <a:ext uri="{9D8B030D-6E8A-4147-A177-3AD203B41FA5}">
                          <a16:colId xmlns:a16="http://schemas.microsoft.com/office/drawing/2014/main" val="492779666"/>
                        </a:ext>
                      </a:extLst>
                    </a:gridCol>
                  </a:tblGrid>
                  <a:tr h="44903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LH-I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 LH-II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buNone/>
                          </a:pPr>
                          <a:endParaRPr lang="en-IN" sz="1100" kern="100" dirty="0">
                            <a:effectLst/>
                            <a:latin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3258395876"/>
                      </a:ext>
                    </a:extLst>
                  </a:tr>
                  <a:tr h="87409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Adsorption Constant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67" marR="9467" marT="9467" marB="9467" anchor="ctr">
                        <a:blipFill>
                          <a:blip r:embed="rId3"/>
                          <a:stretch>
                            <a:fillRect l="-148485" t="-52448" r="-505455" b="-334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(-95%) CI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(+95%) CI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t-Statistic / p-Value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67" marR="9467" marT="9467" marB="9467" anchor="ctr">
                        <a:blipFill>
                          <a:blip r:embed="rId3"/>
                          <a:stretch>
                            <a:fillRect l="-593548" t="-52448" r="-309677" b="-334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(-95%) CI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(+95%) CI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t-Statistic / p-Value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467" marR="9467" marT="9467" marB="9467" anchor="ctr">
                        <a:blipFill>
                          <a:blip r:embed="rId3"/>
                          <a:stretch>
                            <a:fillRect l="-1115686" t="-52448" r="-3922" b="-3342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1929182"/>
                      </a:ext>
                    </a:extLst>
                  </a:tr>
                  <a:tr h="4958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K_FFR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-96.03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NR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0.05520 /0.9561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-70.28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-79.22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-61.34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15.48/ 0.0000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-51.5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999246997"/>
                      </a:ext>
                    </a:extLst>
                  </a:tr>
                  <a:tr h="6762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K_H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-133.75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0.03700    / 0.9706)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-30.51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-36.35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-24.67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10.254/ 0.0000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-50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1253943692"/>
                      </a:ext>
                    </a:extLst>
                  </a:tr>
                  <a:tr h="4958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K_FAL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-31.81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0.015300 /0.9878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-32.53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-37.68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-27.38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-12.852/ 0.0000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-28.9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3316554277"/>
                      </a:ext>
                    </a:extLst>
                  </a:tr>
                  <a:tr h="5518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K_MF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-84.27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4.8892E-8/1.0000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-17.57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NR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-0.2821/ 0.7783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-15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3674553376"/>
                      </a:ext>
                    </a:extLst>
                  </a:tr>
                  <a:tr h="6762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K_H2O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-84.80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NR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NR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-0.0480 /0.9618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-38.87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-80.71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effectLst/>
                            </a:rPr>
                            <a:t>2.97</a:t>
                          </a:r>
                          <a:endParaRPr lang="en-IN" sz="11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effectLst/>
                            </a:rPr>
                            <a:t>-1.5349/ 0.1274</a:t>
                          </a:r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i="1" kern="100" dirty="0">
                              <a:effectLst/>
                            </a:rPr>
                            <a:t>-52</a:t>
                          </a:r>
                          <a:endParaRPr lang="en-IN" sz="1100" i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9467" marR="9467" marT="9467" marB="9467" anchor="ctr"/>
                    </a:tc>
                    <a:extLst>
                      <a:ext uri="{0D108BD9-81ED-4DB2-BD59-A6C34878D82A}">
                        <a16:rowId xmlns:a16="http://schemas.microsoft.com/office/drawing/2014/main" val="22733545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85937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F5919-0FC9-14E1-228B-0F7D09E4C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2EE5C6-CA2B-0353-63E3-CD4B52C27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8913534"/>
              </p:ext>
            </p:extLst>
          </p:nvPr>
        </p:nvGraphicFramePr>
        <p:xfrm>
          <a:off x="911798" y="2061481"/>
          <a:ext cx="3660204" cy="33454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2394">
                  <a:extLst>
                    <a:ext uri="{9D8B030D-6E8A-4147-A177-3AD203B41FA5}">
                      <a16:colId xmlns:a16="http://schemas.microsoft.com/office/drawing/2014/main" val="3540072370"/>
                    </a:ext>
                  </a:extLst>
                </a:gridCol>
                <a:gridCol w="553562">
                  <a:extLst>
                    <a:ext uri="{9D8B030D-6E8A-4147-A177-3AD203B41FA5}">
                      <a16:colId xmlns:a16="http://schemas.microsoft.com/office/drawing/2014/main" val="1662676370"/>
                    </a:ext>
                  </a:extLst>
                </a:gridCol>
                <a:gridCol w="553562">
                  <a:extLst>
                    <a:ext uri="{9D8B030D-6E8A-4147-A177-3AD203B41FA5}">
                      <a16:colId xmlns:a16="http://schemas.microsoft.com/office/drawing/2014/main" val="1476505072"/>
                    </a:ext>
                  </a:extLst>
                </a:gridCol>
                <a:gridCol w="553562">
                  <a:extLst>
                    <a:ext uri="{9D8B030D-6E8A-4147-A177-3AD203B41FA5}">
                      <a16:colId xmlns:a16="http://schemas.microsoft.com/office/drawing/2014/main" val="579948008"/>
                    </a:ext>
                  </a:extLst>
                </a:gridCol>
                <a:gridCol w="553562">
                  <a:extLst>
                    <a:ext uri="{9D8B030D-6E8A-4147-A177-3AD203B41FA5}">
                      <a16:colId xmlns:a16="http://schemas.microsoft.com/office/drawing/2014/main" val="2688281830"/>
                    </a:ext>
                  </a:extLst>
                </a:gridCol>
                <a:gridCol w="553562">
                  <a:extLst>
                    <a:ext uri="{9D8B030D-6E8A-4147-A177-3AD203B41FA5}">
                      <a16:colId xmlns:a16="http://schemas.microsoft.com/office/drawing/2014/main" val="1247102441"/>
                    </a:ext>
                  </a:extLst>
                </a:gridCol>
              </a:tblGrid>
              <a:tr h="2993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LH-I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5154044"/>
                  </a:ext>
                </a:extLst>
              </a:tr>
              <a:tr h="609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 err="1">
                          <a:effectLst/>
                        </a:rPr>
                        <a:t>dS_FFR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38295963"/>
                  </a:ext>
                </a:extLst>
              </a:tr>
              <a:tr h="609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 err="1">
                          <a:effectLst/>
                        </a:rPr>
                        <a:t>dS_H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10967540"/>
                  </a:ext>
                </a:extLst>
              </a:tr>
              <a:tr h="609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 err="1">
                          <a:effectLst/>
                        </a:rPr>
                        <a:t>dS_FAL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87266297"/>
                  </a:ext>
                </a:extLst>
              </a:tr>
              <a:tr h="609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 err="1">
                          <a:effectLst/>
                        </a:rPr>
                        <a:t>dS_MF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1055362"/>
                  </a:ext>
                </a:extLst>
              </a:tr>
              <a:tr h="609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dS_H2O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0.042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1.000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040027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CD6D16-A948-722B-64C8-5E18EAA99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04870"/>
              </p:ext>
            </p:extLst>
          </p:nvPr>
        </p:nvGraphicFramePr>
        <p:xfrm>
          <a:off x="4797998" y="2061481"/>
          <a:ext cx="3568759" cy="33296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0099">
                  <a:extLst>
                    <a:ext uri="{9D8B030D-6E8A-4147-A177-3AD203B41FA5}">
                      <a16:colId xmlns:a16="http://schemas.microsoft.com/office/drawing/2014/main" val="3168779741"/>
                    </a:ext>
                  </a:extLst>
                </a:gridCol>
                <a:gridCol w="539732">
                  <a:extLst>
                    <a:ext uri="{9D8B030D-6E8A-4147-A177-3AD203B41FA5}">
                      <a16:colId xmlns:a16="http://schemas.microsoft.com/office/drawing/2014/main" val="725042947"/>
                    </a:ext>
                  </a:extLst>
                </a:gridCol>
                <a:gridCol w="539732">
                  <a:extLst>
                    <a:ext uri="{9D8B030D-6E8A-4147-A177-3AD203B41FA5}">
                      <a16:colId xmlns:a16="http://schemas.microsoft.com/office/drawing/2014/main" val="2044796874"/>
                    </a:ext>
                  </a:extLst>
                </a:gridCol>
                <a:gridCol w="539732">
                  <a:extLst>
                    <a:ext uri="{9D8B030D-6E8A-4147-A177-3AD203B41FA5}">
                      <a16:colId xmlns:a16="http://schemas.microsoft.com/office/drawing/2014/main" val="2451415731"/>
                    </a:ext>
                  </a:extLst>
                </a:gridCol>
                <a:gridCol w="539732">
                  <a:extLst>
                    <a:ext uri="{9D8B030D-6E8A-4147-A177-3AD203B41FA5}">
                      <a16:colId xmlns:a16="http://schemas.microsoft.com/office/drawing/2014/main" val="336878356"/>
                    </a:ext>
                  </a:extLst>
                </a:gridCol>
                <a:gridCol w="539732">
                  <a:extLst>
                    <a:ext uri="{9D8B030D-6E8A-4147-A177-3AD203B41FA5}">
                      <a16:colId xmlns:a16="http://schemas.microsoft.com/office/drawing/2014/main" val="2064632974"/>
                    </a:ext>
                  </a:extLst>
                </a:gridCol>
              </a:tblGrid>
              <a:tr h="2872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LH-II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8559506"/>
                  </a:ext>
                </a:extLst>
              </a:tr>
              <a:tr h="6084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-0.518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0.036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-0.032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0.067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2563438"/>
                  </a:ext>
                </a:extLst>
              </a:tr>
              <a:tr h="6084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-0.518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-0.169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-0.006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-0.051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29639645"/>
                  </a:ext>
                </a:extLst>
              </a:tr>
              <a:tr h="6084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0.036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-0.169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0.664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-0.756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1416053"/>
                  </a:ext>
                </a:extLst>
              </a:tr>
              <a:tr h="6084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-0.032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-0.006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0.664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1.000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-0.977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50593757"/>
                  </a:ext>
                </a:extLst>
              </a:tr>
              <a:tr h="6084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dS7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0.067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-0.051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-0.756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-0.977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1.000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3211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807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D432-B5FA-8EB1-B72A-1229B7FA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AD69-C298-31D4-FA5E-229B79A3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129765"/>
            <a:ext cx="6347713" cy="960347"/>
          </a:xfrm>
        </p:spPr>
        <p:txBody>
          <a:bodyPr>
            <a:normAutofit fontScale="90000"/>
          </a:bodyPr>
          <a:lstStyle/>
          <a:p>
            <a:r>
              <a:rPr lang="en-US" dirty="0"/>
              <a:t>PARITY PLOT LH-I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FD0A-5E68-6ECE-0765-32C4E57FC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BB82D-C824-0110-62F8-C9EEF2B8F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61" y="1776159"/>
            <a:ext cx="7462299" cy="48276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6795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9C96-7AC2-A6F9-7E32-09D7B00E0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A0EB-E250-2E3C-4A87-8374A5209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685" y="1365560"/>
            <a:ext cx="6347713" cy="960347"/>
          </a:xfrm>
        </p:spPr>
        <p:txBody>
          <a:bodyPr>
            <a:normAutofit fontScale="90000"/>
          </a:bodyPr>
          <a:lstStyle/>
          <a:p>
            <a:r>
              <a:rPr lang="en-US" dirty="0"/>
              <a:t>Parity Plot LH-II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C0EB1-AE83-F269-191A-2396435A5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D1894D-FEEB-0194-DE57-641C0C78B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59" y="1845733"/>
            <a:ext cx="7543801" cy="4880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7310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1A6C-F06B-93AC-2A9E-6C14714C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HEAT AND MASS TRANSFER LIMITATION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4A002E-5884-B797-7423-D902DD098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86101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21DE34-FF58-16B5-1A0C-20AC22219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45734"/>
            <a:ext cx="7498081" cy="380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48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D38E-0467-BCC6-40B3-4CC437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F54A1B-C0E6-1224-7AFD-25CAF102BE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49585"/>
              </p:ext>
            </p:extLst>
          </p:nvPr>
        </p:nvGraphicFramePr>
        <p:xfrm>
          <a:off x="822960" y="1849920"/>
          <a:ext cx="7543800" cy="1626332"/>
        </p:xfrm>
        <a:graphic>
          <a:graphicData uri="http://schemas.openxmlformats.org/drawingml/2006/table">
            <a:tbl>
              <a:tblPr/>
              <a:tblGrid>
                <a:gridCol w="1885950">
                  <a:extLst>
                    <a:ext uri="{9D8B030D-6E8A-4147-A177-3AD203B41FA5}">
                      <a16:colId xmlns:a16="http://schemas.microsoft.com/office/drawing/2014/main" val="3143178727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708553947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2697327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3263816"/>
                    </a:ext>
                  </a:extLst>
                </a:gridCol>
              </a:tblGrid>
              <a:tr h="3684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Reaction 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Present Work (LH-II)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Literature Trend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945596"/>
                  </a:ext>
                </a:extLst>
              </a:tr>
              <a:tr h="6842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Furfural → FAL (Hydrogenation)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/>
                        <a:t>37.73 kJ/mol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Lower Ea reported for carbonyl hydrogenation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Kinetically easier 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030486"/>
                  </a:ext>
                </a:extLst>
              </a:tr>
              <a:tr h="526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FAL → 2-MF (Hydrodeoxygenation)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/>
                        <a:t>60.13 kJ/mol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Higher Ea reported for HDO reactions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Rate controlling / energy demanding 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9927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E86F14-66BB-60D6-9D76-B85AACA426BA}"/>
              </a:ext>
            </a:extLst>
          </p:cNvPr>
          <p:cNvSpPr txBox="1"/>
          <p:nvPr/>
        </p:nvSpPr>
        <p:spPr>
          <a:xfrm>
            <a:off x="822960" y="3606170"/>
            <a:ext cx="7543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Consistent with Previous Studies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Cu-based catalysts </a:t>
            </a:r>
            <a:r>
              <a:rPr lang="en-IN" dirty="0" err="1"/>
              <a:t>favor</a:t>
            </a:r>
            <a:r>
              <a:rPr lang="en-IN" dirty="0"/>
              <a:t> sequential: </a:t>
            </a:r>
          </a:p>
          <a:p>
            <a:pPr lvl="1"/>
            <a:r>
              <a:rPr lang="en-IN" dirty="0"/>
              <a:t>						FFR → FAL → 2-MF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Furfuryl alcohol identified as major intermediate.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Thermodynamic Consistency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Adsorption Parameters Negative </a:t>
            </a:r>
            <a:r>
              <a:rPr lang="el-GR" dirty="0"/>
              <a:t>Δ</a:t>
            </a:r>
            <a:r>
              <a:rPr lang="en-IN" dirty="0"/>
              <a:t>S → Reduced randomness during adsorption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Physically meaningful adsorption </a:t>
            </a:r>
            <a:r>
              <a:rPr lang="en-IN" dirty="0" err="1"/>
              <a:t>behavior</a:t>
            </a:r>
            <a:r>
              <a:rPr lang="en-IN" dirty="0"/>
              <a:t> obtained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680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A646-FD86-69D1-6A76-3B01349C6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015" y="331151"/>
            <a:ext cx="6347713" cy="1320800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799B4-FF14-C013-DAD1-4013FA577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015" y="1761691"/>
            <a:ext cx="7530549" cy="477170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700" dirty="0"/>
              <a:t>Developed kinetic models for furfural hydrodeoxygenation using: Power Law model and Langmuir–Hinshelwood (LH) model.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/>
              <a:t> Dual-site LHHW model (LH-II) showed: Better thermodynamic consistency, lower parameter correlation and improved statistical reliability.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/>
              <a:t>Activation energy results indicated:</a:t>
            </a:r>
          </a:p>
          <a:p>
            <a:pPr lvl="1"/>
            <a:r>
              <a:rPr lang="en-IN" sz="1700" dirty="0"/>
              <a:t>Furfural hydrogenation is kinetically easier </a:t>
            </a:r>
          </a:p>
          <a:p>
            <a:pPr lvl="1"/>
            <a:r>
              <a:rPr lang="en-IN" sz="1700" dirty="0" err="1"/>
              <a:t>Deoxyhydrogenation</a:t>
            </a:r>
            <a:r>
              <a:rPr lang="en-IN" sz="1700" dirty="0"/>
              <a:t> (FAL → 2-MF) is the more energy-demanding step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/>
              <a:t> Negative </a:t>
            </a:r>
            <a:r>
              <a:rPr lang="el-GR" sz="1700" dirty="0"/>
              <a:t>Δ</a:t>
            </a:r>
            <a:r>
              <a:rPr lang="en-IN" sz="1700" dirty="0"/>
              <a:t>S values confirmed: Exothermic adsorption and Reduced randomness during adsorption.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/>
              <a:t>Heat and mass transfer analyses confirmed:</a:t>
            </a:r>
          </a:p>
          <a:p>
            <a:pPr lvl="1"/>
            <a:r>
              <a:rPr lang="en-IN" sz="1700" dirty="0"/>
              <a:t>Absence of transport limitations </a:t>
            </a:r>
          </a:p>
          <a:p>
            <a:pPr lvl="1"/>
            <a:r>
              <a:rPr lang="en-IN" sz="1700" dirty="0"/>
              <a:t>Observed rates represent intrinsic kinetics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/>
              <a:t> Developed model successfully explained:</a:t>
            </a:r>
          </a:p>
          <a:p>
            <a:pPr lvl="1"/>
            <a:r>
              <a:rPr lang="en-IN" sz="1700" dirty="0"/>
              <a:t>Adsorption effects </a:t>
            </a:r>
          </a:p>
          <a:p>
            <a:pPr lvl="1"/>
            <a:r>
              <a:rPr lang="en-IN" sz="1700" dirty="0"/>
              <a:t>Surface reaction mechanism </a:t>
            </a:r>
          </a:p>
          <a:p>
            <a:pPr lvl="1"/>
            <a:r>
              <a:rPr lang="en-IN" sz="1700" dirty="0"/>
              <a:t>Selective formation of 2-Methylfuran (2-MF)</a:t>
            </a:r>
          </a:p>
        </p:txBody>
      </p:sp>
    </p:spTree>
    <p:extLst>
      <p:ext uri="{BB962C8B-B14F-4D97-AF65-F5344CB8AC3E}">
        <p14:creationId xmlns:p14="http://schemas.microsoft.com/office/powerpoint/2010/main" val="4057931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4CCC-F782-E236-A465-A416F08B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80FD-72F3-BE8A-CFBE-F445E0918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https://www.sciencedirect.com/science/article/pii/S0016236122035359</a:t>
            </a:r>
            <a:endParaRPr lang="en-IN" dirty="0"/>
          </a:p>
          <a:p>
            <a:r>
              <a:rPr lang="en-IN" dirty="0">
                <a:hlinkClick r:id="rId3"/>
              </a:rPr>
              <a:t>https://www.sciencedirect.com/science/article/pii/S0016236124002485</a:t>
            </a:r>
            <a:endParaRPr lang="en-IN" dirty="0"/>
          </a:p>
          <a:p>
            <a:r>
              <a:rPr lang="en-IN" dirty="0">
                <a:hlinkClick r:id="rId4"/>
              </a:rPr>
              <a:t>https://www.sciencedirect.com/science/article/pii/S2213343716303736</a:t>
            </a:r>
            <a:endParaRPr lang="en-IN" dirty="0"/>
          </a:p>
          <a:p>
            <a:r>
              <a:rPr lang="en-IN" dirty="0">
                <a:hlinkClick r:id="rId5"/>
              </a:rPr>
              <a:t>https://pubs.acs.org/doi/full/10.1021/ acs.iecr.5b03828</a:t>
            </a:r>
            <a:endParaRPr lang="en-IN" dirty="0"/>
          </a:p>
          <a:p>
            <a:r>
              <a:rPr lang="en-US" dirty="0"/>
              <a:t>H. Scott Fogler. Elements of Chemical Reaction Engineering. 5th Edition.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5135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2395</TotalTime>
  <Words>1675</Words>
  <Application>Microsoft Office PowerPoint</Application>
  <PresentationFormat>On-screen Show (4:3)</PresentationFormat>
  <Paragraphs>510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Calibri Light</vt:lpstr>
      <vt:lpstr>Cambria Math</vt:lpstr>
      <vt:lpstr>Courier New</vt:lpstr>
      <vt:lpstr>Times New Roman</vt:lpstr>
      <vt:lpstr>Wingdings</vt:lpstr>
      <vt:lpstr>Retrospect</vt:lpstr>
      <vt:lpstr>Mechanistic Kinetic Modeling of Furfural Hydrodeoxygenation to Produce 2-Methylfuran in a Fixed Bed Reactor                  </vt:lpstr>
      <vt:lpstr>Introduction</vt:lpstr>
      <vt:lpstr>Project Objectives</vt:lpstr>
      <vt:lpstr>Kinetic Models Considered</vt:lpstr>
      <vt:lpstr>Estimation of Kinetic Model Parameters</vt:lpstr>
      <vt:lpstr>Data Processing</vt:lpstr>
      <vt:lpstr>RESULTS </vt:lpstr>
      <vt:lpstr>Arrhenius Analysis</vt:lpstr>
      <vt:lpstr>Correlation Matrix </vt:lpstr>
      <vt:lpstr>Parity Plot -FFR to FAL </vt:lpstr>
      <vt:lpstr>Parity Plot - FAL to 2-MF </vt:lpstr>
      <vt:lpstr>LHHW Model Overview</vt:lpstr>
      <vt:lpstr>LHHW Model</vt:lpstr>
      <vt:lpstr>Elementary Reactions</vt:lpstr>
      <vt:lpstr>LHHW Model</vt:lpstr>
      <vt:lpstr>KINETICS RESULT </vt:lpstr>
      <vt:lpstr>ARRHENIUS ANALYSIS LH-I</vt:lpstr>
      <vt:lpstr>ARRHENIUS ANALYSIS LH-II</vt:lpstr>
      <vt:lpstr>THERMODYNAMICS RESULTS </vt:lpstr>
      <vt:lpstr>CORRELATION</vt:lpstr>
      <vt:lpstr>PARITY PLOT LH-I </vt:lpstr>
      <vt:lpstr>Parity Plot LH-II </vt:lpstr>
      <vt:lpstr>HEAT AND MASS TRANSFER LIMITATION</vt:lpstr>
      <vt:lpstr>FINDINGS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Sayed Musaraf Ali</dc:creator>
  <cp:keywords/>
  <dc:description>generated using python-pptx</dc:description>
  <cp:lastModifiedBy>Sayed Musaraf Ali</cp:lastModifiedBy>
  <cp:revision>14</cp:revision>
  <dcterms:created xsi:type="dcterms:W3CDTF">2026-02-21T05:24:13Z</dcterms:created>
  <dcterms:modified xsi:type="dcterms:W3CDTF">2026-06-04T07:15:27Z</dcterms:modified>
  <cp:category/>
</cp:coreProperties>
</file>